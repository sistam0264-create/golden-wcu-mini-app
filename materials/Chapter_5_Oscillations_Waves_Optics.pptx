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54"/>
  </p:notesMasterIdLst>
  <p:sldIdLst>
    <p:sldId id="256" r:id="rId3"/>
    <p:sldId id="257" r:id="rId4"/>
    <p:sldId id="262" r:id="rId5"/>
    <p:sldId id="260" r:id="rId6"/>
    <p:sldId id="259" r:id="rId7"/>
    <p:sldId id="261" r:id="rId8"/>
    <p:sldId id="264" r:id="rId9"/>
    <p:sldId id="265" r:id="rId10"/>
    <p:sldId id="266" r:id="rId11"/>
    <p:sldId id="267" r:id="rId12"/>
    <p:sldId id="307" r:id="rId13"/>
    <p:sldId id="270" r:id="rId14"/>
    <p:sldId id="268" r:id="rId15"/>
    <p:sldId id="271" r:id="rId16"/>
    <p:sldId id="272" r:id="rId17"/>
    <p:sldId id="275" r:id="rId18"/>
    <p:sldId id="274" r:id="rId19"/>
    <p:sldId id="278" r:id="rId20"/>
    <p:sldId id="309" r:id="rId21"/>
    <p:sldId id="279" r:id="rId22"/>
    <p:sldId id="301" r:id="rId23"/>
    <p:sldId id="285" r:id="rId24"/>
    <p:sldId id="286" r:id="rId25"/>
    <p:sldId id="287" r:id="rId26"/>
    <p:sldId id="299" r:id="rId27"/>
    <p:sldId id="283" r:id="rId28"/>
    <p:sldId id="284" r:id="rId29"/>
    <p:sldId id="295" r:id="rId30"/>
    <p:sldId id="288" r:id="rId31"/>
    <p:sldId id="289" r:id="rId32"/>
    <p:sldId id="291" r:id="rId33"/>
    <p:sldId id="292" r:id="rId34"/>
    <p:sldId id="293" r:id="rId35"/>
    <p:sldId id="294" r:id="rId36"/>
    <p:sldId id="297" r:id="rId37"/>
    <p:sldId id="296" r:id="rId38"/>
    <p:sldId id="306" r:id="rId39"/>
    <p:sldId id="298" r:id="rId40"/>
    <p:sldId id="277" r:id="rId41"/>
    <p:sldId id="302" r:id="rId42"/>
    <p:sldId id="308" r:id="rId43"/>
    <p:sldId id="311" r:id="rId44"/>
    <p:sldId id="312" r:id="rId45"/>
    <p:sldId id="317" r:id="rId46"/>
    <p:sldId id="318" r:id="rId47"/>
    <p:sldId id="320" r:id="rId48"/>
    <p:sldId id="319" r:id="rId49"/>
    <p:sldId id="321" r:id="rId50"/>
    <p:sldId id="323" r:id="rId51"/>
    <p:sldId id="322" r:id="rId52"/>
    <p:sldId id="300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3" autoAdjust="0"/>
    <p:restoredTop sz="94662" autoAdjust="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2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137591-E1B9-4AD6-AC62-681A36BA29FA}" type="doc">
      <dgm:prSet loTypeId="urn:microsoft.com/office/officeart/2005/8/layout/hierarchy4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545D77D-D1C3-4326-BD52-32768AB182DA}">
      <dgm:prSet phldrT="[Text]" custT="1"/>
      <dgm:spPr/>
      <dgm:t>
        <a:bodyPr/>
        <a:lstStyle/>
        <a:p>
          <a:r>
            <a:rPr lang="en-US" sz="3200" dirty="0" smtClean="0"/>
            <a:t>Wave </a:t>
          </a:r>
          <a:endParaRPr lang="en-US" sz="3200" dirty="0"/>
        </a:p>
      </dgm:t>
    </dgm:pt>
    <dgm:pt modelId="{0FBC7DD7-2909-43A8-8C19-0C5BB9DEB544}" type="parTrans" cxnId="{ADAEAF60-C9E0-4187-A60B-5CC62989D48C}">
      <dgm:prSet/>
      <dgm:spPr/>
      <dgm:t>
        <a:bodyPr/>
        <a:lstStyle/>
        <a:p>
          <a:endParaRPr lang="en-US"/>
        </a:p>
      </dgm:t>
    </dgm:pt>
    <dgm:pt modelId="{DC32D690-3191-4A17-9A58-6B323AFB745E}" type="sibTrans" cxnId="{ADAEAF60-C9E0-4187-A60B-5CC62989D48C}">
      <dgm:prSet/>
      <dgm:spPr/>
      <dgm:t>
        <a:bodyPr/>
        <a:lstStyle/>
        <a:p>
          <a:endParaRPr lang="en-US"/>
        </a:p>
      </dgm:t>
    </dgm:pt>
    <dgm:pt modelId="{4E3EEF35-F7D5-4CCA-BBB1-90C45AE53072}">
      <dgm:prSet phldrT="[Text]"/>
      <dgm:spPr/>
      <dgm:t>
        <a:bodyPr/>
        <a:lstStyle/>
        <a:p>
          <a:r>
            <a:rPr lang="en-US" dirty="0" smtClean="0"/>
            <a:t>Mechanical </a:t>
          </a:r>
          <a:endParaRPr lang="en-US" dirty="0"/>
        </a:p>
      </dgm:t>
    </dgm:pt>
    <dgm:pt modelId="{8C26DBFD-EC02-4F07-947B-D2A2EDF65362}" type="parTrans" cxnId="{0C2CD5AC-5E05-4128-A5BF-72D786BC8BEC}">
      <dgm:prSet/>
      <dgm:spPr/>
      <dgm:t>
        <a:bodyPr/>
        <a:lstStyle/>
        <a:p>
          <a:endParaRPr lang="en-US"/>
        </a:p>
      </dgm:t>
    </dgm:pt>
    <dgm:pt modelId="{F6744DBE-685B-40E2-BF87-5B5319576CCC}" type="sibTrans" cxnId="{0C2CD5AC-5E05-4128-A5BF-72D786BC8BEC}">
      <dgm:prSet/>
      <dgm:spPr/>
      <dgm:t>
        <a:bodyPr/>
        <a:lstStyle/>
        <a:p>
          <a:endParaRPr lang="en-US"/>
        </a:p>
      </dgm:t>
    </dgm:pt>
    <dgm:pt modelId="{7DAC6C51-746F-4FBA-B7EA-5EA2723473C5}">
      <dgm:prSet phldrT="[Text]"/>
      <dgm:spPr/>
      <dgm:t>
        <a:bodyPr/>
        <a:lstStyle/>
        <a:p>
          <a:r>
            <a:rPr lang="en-US" dirty="0" smtClean="0"/>
            <a:t>Transverse</a:t>
          </a:r>
          <a:endParaRPr lang="en-US" dirty="0"/>
        </a:p>
      </dgm:t>
    </dgm:pt>
    <dgm:pt modelId="{10A99B85-F1AA-467C-931D-DF49864C9417}" type="parTrans" cxnId="{DF6258FF-A5DC-4310-99E1-3BC75AA9DDFF}">
      <dgm:prSet/>
      <dgm:spPr/>
      <dgm:t>
        <a:bodyPr/>
        <a:lstStyle/>
        <a:p>
          <a:endParaRPr lang="en-US"/>
        </a:p>
      </dgm:t>
    </dgm:pt>
    <dgm:pt modelId="{746958B1-771F-42B4-AAA0-487DCF2A5C6F}" type="sibTrans" cxnId="{DF6258FF-A5DC-4310-99E1-3BC75AA9DDFF}">
      <dgm:prSet/>
      <dgm:spPr/>
      <dgm:t>
        <a:bodyPr/>
        <a:lstStyle/>
        <a:p>
          <a:endParaRPr lang="en-US"/>
        </a:p>
      </dgm:t>
    </dgm:pt>
    <dgm:pt modelId="{A42FC294-458C-4C96-8A20-42A9EDDE3152}">
      <dgm:prSet phldrT="[Text]"/>
      <dgm:spPr/>
      <dgm:t>
        <a:bodyPr/>
        <a:lstStyle/>
        <a:p>
          <a:r>
            <a:rPr lang="en-US" dirty="0" smtClean="0"/>
            <a:t>longitudinal</a:t>
          </a:r>
          <a:endParaRPr lang="en-US" dirty="0"/>
        </a:p>
      </dgm:t>
    </dgm:pt>
    <dgm:pt modelId="{E0D26E2E-7416-41E0-8722-218756BF62FB}" type="parTrans" cxnId="{A1BDA61F-2F42-4938-BF42-56D1946418C9}">
      <dgm:prSet/>
      <dgm:spPr/>
      <dgm:t>
        <a:bodyPr/>
        <a:lstStyle/>
        <a:p>
          <a:endParaRPr lang="en-US"/>
        </a:p>
      </dgm:t>
    </dgm:pt>
    <dgm:pt modelId="{7439E1C5-AD07-499D-81F8-C5BE291488C7}" type="sibTrans" cxnId="{A1BDA61F-2F42-4938-BF42-56D1946418C9}">
      <dgm:prSet/>
      <dgm:spPr/>
      <dgm:t>
        <a:bodyPr/>
        <a:lstStyle/>
        <a:p>
          <a:endParaRPr lang="en-US"/>
        </a:p>
      </dgm:t>
    </dgm:pt>
    <dgm:pt modelId="{79738B62-7AAA-4033-BEFB-4AF5C744968D}">
      <dgm:prSet phldrT="[Text]"/>
      <dgm:spPr/>
      <dgm:t>
        <a:bodyPr/>
        <a:lstStyle/>
        <a:p>
          <a:r>
            <a:rPr lang="en-US" dirty="0" smtClean="0"/>
            <a:t>Electromagnetic </a:t>
          </a:r>
          <a:endParaRPr lang="en-US" dirty="0"/>
        </a:p>
      </dgm:t>
    </dgm:pt>
    <dgm:pt modelId="{707F5F03-89EF-4606-A819-AE25CE6606B3}" type="parTrans" cxnId="{0F82D79B-A07A-46D2-8981-31DC4B110020}">
      <dgm:prSet/>
      <dgm:spPr/>
      <dgm:t>
        <a:bodyPr/>
        <a:lstStyle/>
        <a:p>
          <a:endParaRPr lang="en-US"/>
        </a:p>
      </dgm:t>
    </dgm:pt>
    <dgm:pt modelId="{EC725E93-5AD6-4D6C-AF33-A9A906CFACC3}" type="sibTrans" cxnId="{0F82D79B-A07A-46D2-8981-31DC4B110020}">
      <dgm:prSet/>
      <dgm:spPr/>
      <dgm:t>
        <a:bodyPr/>
        <a:lstStyle/>
        <a:p>
          <a:endParaRPr lang="en-US"/>
        </a:p>
      </dgm:t>
    </dgm:pt>
    <dgm:pt modelId="{3F9224CB-3F14-4F1C-8EEF-A7BFCA5ED59C}">
      <dgm:prSet phldrT="[Text]"/>
      <dgm:spPr/>
      <dgm:t>
        <a:bodyPr/>
        <a:lstStyle/>
        <a:p>
          <a:r>
            <a:rPr lang="en-US" dirty="0" smtClean="0"/>
            <a:t>Transverse</a:t>
          </a:r>
          <a:endParaRPr lang="en-US" dirty="0"/>
        </a:p>
      </dgm:t>
    </dgm:pt>
    <dgm:pt modelId="{DED07456-F81E-41CA-A8C7-8AB608666886}" type="parTrans" cxnId="{1C99FF60-2C29-4F9E-8983-5A7899C2E449}">
      <dgm:prSet/>
      <dgm:spPr/>
      <dgm:t>
        <a:bodyPr/>
        <a:lstStyle/>
        <a:p>
          <a:endParaRPr lang="en-US"/>
        </a:p>
      </dgm:t>
    </dgm:pt>
    <dgm:pt modelId="{7FE677B3-4438-4AC8-BF89-8D4C13A22DEF}" type="sibTrans" cxnId="{1C99FF60-2C29-4F9E-8983-5A7899C2E449}">
      <dgm:prSet/>
      <dgm:spPr/>
      <dgm:t>
        <a:bodyPr/>
        <a:lstStyle/>
        <a:p>
          <a:endParaRPr lang="en-US"/>
        </a:p>
      </dgm:t>
    </dgm:pt>
    <dgm:pt modelId="{7C5544E2-706F-4594-9EB0-719982B46280}" type="pres">
      <dgm:prSet presAssocID="{07137591-E1B9-4AD6-AC62-681A36BA29FA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F3886C22-976D-443B-B049-1621A5DF222E}" type="pres">
      <dgm:prSet presAssocID="{7545D77D-D1C3-4326-BD52-32768AB182DA}" presName="vertOne" presStyleCnt="0"/>
      <dgm:spPr/>
    </dgm:pt>
    <dgm:pt modelId="{B6084277-CC94-4B52-99A2-3BDC32538B17}" type="pres">
      <dgm:prSet presAssocID="{7545D77D-D1C3-4326-BD52-32768AB182DA}" presName="txOne" presStyleLbl="node0" presStyleIdx="0" presStyleCnt="1" custScaleX="66714" custScaleY="10959" custLinFactY="-11052" custLinFactNeighborX="-362" custLinFactNeighborY="-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D53CD32-3DCF-410F-A481-A84F858B95F4}" type="pres">
      <dgm:prSet presAssocID="{7545D77D-D1C3-4326-BD52-32768AB182DA}" presName="parTransOne" presStyleCnt="0"/>
      <dgm:spPr/>
    </dgm:pt>
    <dgm:pt modelId="{4D2733AB-23B2-49A9-A7A8-08DC012F1104}" type="pres">
      <dgm:prSet presAssocID="{7545D77D-D1C3-4326-BD52-32768AB182DA}" presName="horzOne" presStyleCnt="0"/>
      <dgm:spPr/>
    </dgm:pt>
    <dgm:pt modelId="{B903B438-F1B7-4B31-925F-BD4431472739}" type="pres">
      <dgm:prSet presAssocID="{4E3EEF35-F7D5-4CCA-BBB1-90C45AE53072}" presName="vertTwo" presStyleCnt="0"/>
      <dgm:spPr/>
    </dgm:pt>
    <dgm:pt modelId="{649855E3-8C5D-4182-A5FC-27426E44994B}" type="pres">
      <dgm:prSet presAssocID="{4E3EEF35-F7D5-4CCA-BBB1-90C45AE53072}" presName="txTwo" presStyleLbl="node2" presStyleIdx="0" presStyleCnt="2" custScaleX="92463" custScaleY="15621" custLinFactY="-5310" custLinFactNeighborX="192" custLinFactNeighborY="-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0089D3B-3B0C-4472-8D81-6E1C8C2B23AA}" type="pres">
      <dgm:prSet presAssocID="{4E3EEF35-F7D5-4CCA-BBB1-90C45AE53072}" presName="parTransTwo" presStyleCnt="0"/>
      <dgm:spPr/>
    </dgm:pt>
    <dgm:pt modelId="{C2502994-BB0E-4B85-99C2-2FDA09B1A5DA}" type="pres">
      <dgm:prSet presAssocID="{4E3EEF35-F7D5-4CCA-BBB1-90C45AE53072}" presName="horzTwo" presStyleCnt="0"/>
      <dgm:spPr/>
    </dgm:pt>
    <dgm:pt modelId="{2ACC5DDB-D84E-43B1-BC6C-5B2E45306CF6}" type="pres">
      <dgm:prSet presAssocID="{7DAC6C51-746F-4FBA-B7EA-5EA2723473C5}" presName="vertThree" presStyleCnt="0"/>
      <dgm:spPr/>
    </dgm:pt>
    <dgm:pt modelId="{6111A900-1A54-4987-8ACC-E89B46BBBD68}" type="pres">
      <dgm:prSet presAssocID="{7DAC6C51-746F-4FBA-B7EA-5EA2723473C5}" presName="txThree" presStyleLbl="node3" presStyleIdx="0" presStyleCnt="3" custScaleY="12762" custLinFactNeighborX="-145" custLinFactNeighborY="-360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369B4AF-6998-4F79-8E4C-8ACF6148C9A7}" type="pres">
      <dgm:prSet presAssocID="{7DAC6C51-746F-4FBA-B7EA-5EA2723473C5}" presName="horzThree" presStyleCnt="0"/>
      <dgm:spPr/>
    </dgm:pt>
    <dgm:pt modelId="{DF932F9D-DF65-4696-AF08-5D28CFF03544}" type="pres">
      <dgm:prSet presAssocID="{746958B1-771F-42B4-AAA0-487DCF2A5C6F}" presName="sibSpaceThree" presStyleCnt="0"/>
      <dgm:spPr/>
    </dgm:pt>
    <dgm:pt modelId="{3ACCECE7-DB12-4C5A-B0EB-B16BE02D65CB}" type="pres">
      <dgm:prSet presAssocID="{A42FC294-458C-4C96-8A20-42A9EDDE3152}" presName="vertThree" presStyleCnt="0"/>
      <dgm:spPr/>
    </dgm:pt>
    <dgm:pt modelId="{E2660C7D-BE4B-4BDD-B525-D59AB7C0037C}" type="pres">
      <dgm:prSet presAssocID="{A42FC294-458C-4C96-8A20-42A9EDDE3152}" presName="txThree" presStyleLbl="node3" presStyleIdx="1" presStyleCnt="3" custScaleY="12763" custLinFactNeighborX="15036" custLinFactNeighborY="-360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8101233-433D-4553-86D8-6D29D82FF478}" type="pres">
      <dgm:prSet presAssocID="{A42FC294-458C-4C96-8A20-42A9EDDE3152}" presName="horzThree" presStyleCnt="0"/>
      <dgm:spPr/>
    </dgm:pt>
    <dgm:pt modelId="{207CEEED-F082-4512-96AA-A40513D61743}" type="pres">
      <dgm:prSet presAssocID="{F6744DBE-685B-40E2-BF87-5B5319576CCC}" presName="sibSpaceTwo" presStyleCnt="0"/>
      <dgm:spPr/>
    </dgm:pt>
    <dgm:pt modelId="{CFA7BAC4-D212-4B28-A5DC-580F6694630E}" type="pres">
      <dgm:prSet presAssocID="{79738B62-7AAA-4033-BEFB-4AF5C744968D}" presName="vertTwo" presStyleCnt="0"/>
      <dgm:spPr/>
    </dgm:pt>
    <dgm:pt modelId="{3F1A750E-8405-4041-9B17-C0DC8DDE98D7}" type="pres">
      <dgm:prSet presAssocID="{79738B62-7AAA-4033-BEFB-4AF5C744968D}" presName="txTwo" presStyleLbl="node2" presStyleIdx="1" presStyleCnt="2" custScaleX="198768" custScaleY="16594" custLinFactY="-4257" custLinFactNeighborX="-4477" custLinFactNeighborY="-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6FBECF5-BA0D-4CF3-9E4E-0DAE322C28A9}" type="pres">
      <dgm:prSet presAssocID="{79738B62-7AAA-4033-BEFB-4AF5C744968D}" presName="parTransTwo" presStyleCnt="0"/>
      <dgm:spPr/>
    </dgm:pt>
    <dgm:pt modelId="{65D21642-835A-4F13-BCB0-F82D72DB6FFE}" type="pres">
      <dgm:prSet presAssocID="{79738B62-7AAA-4033-BEFB-4AF5C744968D}" presName="horzTwo" presStyleCnt="0"/>
      <dgm:spPr/>
    </dgm:pt>
    <dgm:pt modelId="{C0A54A8E-DA19-430E-95B8-809C4694A14A}" type="pres">
      <dgm:prSet presAssocID="{3F9224CB-3F14-4F1C-8EEF-A7BFCA5ED59C}" presName="vertThree" presStyleCnt="0"/>
      <dgm:spPr/>
    </dgm:pt>
    <dgm:pt modelId="{D273140B-1095-46A5-BF3E-A7B6B8B22DAB}" type="pres">
      <dgm:prSet presAssocID="{3F9224CB-3F14-4F1C-8EEF-A7BFCA5ED59C}" presName="txThree" presStyleLbl="node3" presStyleIdx="2" presStyleCnt="3" custScaleY="13878" custLinFactNeighborX="8614" custLinFactNeighborY="-296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C5229E2-B192-47E9-A607-E76A8D60E525}" type="pres">
      <dgm:prSet presAssocID="{3F9224CB-3F14-4F1C-8EEF-A7BFCA5ED59C}" presName="horzThree" presStyleCnt="0"/>
      <dgm:spPr/>
    </dgm:pt>
  </dgm:ptLst>
  <dgm:cxnLst>
    <dgm:cxn modelId="{ADAEAF60-C9E0-4187-A60B-5CC62989D48C}" srcId="{07137591-E1B9-4AD6-AC62-681A36BA29FA}" destId="{7545D77D-D1C3-4326-BD52-32768AB182DA}" srcOrd="0" destOrd="0" parTransId="{0FBC7DD7-2909-43A8-8C19-0C5BB9DEB544}" sibTransId="{DC32D690-3191-4A17-9A58-6B323AFB745E}"/>
    <dgm:cxn modelId="{C17927F5-0A6A-4D8F-9E18-EDB7510C859D}" type="presOf" srcId="{79738B62-7AAA-4033-BEFB-4AF5C744968D}" destId="{3F1A750E-8405-4041-9B17-C0DC8DDE98D7}" srcOrd="0" destOrd="0" presId="urn:microsoft.com/office/officeart/2005/8/layout/hierarchy4"/>
    <dgm:cxn modelId="{8F7F59B7-9DD7-4734-93F2-7CF643B01514}" type="presOf" srcId="{07137591-E1B9-4AD6-AC62-681A36BA29FA}" destId="{7C5544E2-706F-4594-9EB0-719982B46280}" srcOrd="0" destOrd="0" presId="urn:microsoft.com/office/officeart/2005/8/layout/hierarchy4"/>
    <dgm:cxn modelId="{1C99FF60-2C29-4F9E-8983-5A7899C2E449}" srcId="{79738B62-7AAA-4033-BEFB-4AF5C744968D}" destId="{3F9224CB-3F14-4F1C-8EEF-A7BFCA5ED59C}" srcOrd="0" destOrd="0" parTransId="{DED07456-F81E-41CA-A8C7-8AB608666886}" sibTransId="{7FE677B3-4438-4AC8-BF89-8D4C13A22DEF}"/>
    <dgm:cxn modelId="{DF6258FF-A5DC-4310-99E1-3BC75AA9DDFF}" srcId="{4E3EEF35-F7D5-4CCA-BBB1-90C45AE53072}" destId="{7DAC6C51-746F-4FBA-B7EA-5EA2723473C5}" srcOrd="0" destOrd="0" parTransId="{10A99B85-F1AA-467C-931D-DF49864C9417}" sibTransId="{746958B1-771F-42B4-AAA0-487DCF2A5C6F}"/>
    <dgm:cxn modelId="{C66BAA8D-FF10-481F-A98C-73D8EB8A0E20}" type="presOf" srcId="{3F9224CB-3F14-4F1C-8EEF-A7BFCA5ED59C}" destId="{D273140B-1095-46A5-BF3E-A7B6B8B22DAB}" srcOrd="0" destOrd="0" presId="urn:microsoft.com/office/officeart/2005/8/layout/hierarchy4"/>
    <dgm:cxn modelId="{1E0DA59C-6136-45B6-832C-998C6AD2D3C5}" type="presOf" srcId="{7545D77D-D1C3-4326-BD52-32768AB182DA}" destId="{B6084277-CC94-4B52-99A2-3BDC32538B17}" srcOrd="0" destOrd="0" presId="urn:microsoft.com/office/officeart/2005/8/layout/hierarchy4"/>
    <dgm:cxn modelId="{A1BDA61F-2F42-4938-BF42-56D1946418C9}" srcId="{4E3EEF35-F7D5-4CCA-BBB1-90C45AE53072}" destId="{A42FC294-458C-4C96-8A20-42A9EDDE3152}" srcOrd="1" destOrd="0" parTransId="{E0D26E2E-7416-41E0-8722-218756BF62FB}" sibTransId="{7439E1C5-AD07-499D-81F8-C5BE291488C7}"/>
    <dgm:cxn modelId="{A7444F5B-722C-4540-BB3D-2EF0CD27E0C5}" type="presOf" srcId="{A42FC294-458C-4C96-8A20-42A9EDDE3152}" destId="{E2660C7D-BE4B-4BDD-B525-D59AB7C0037C}" srcOrd="0" destOrd="0" presId="urn:microsoft.com/office/officeart/2005/8/layout/hierarchy4"/>
    <dgm:cxn modelId="{0F82D79B-A07A-46D2-8981-31DC4B110020}" srcId="{7545D77D-D1C3-4326-BD52-32768AB182DA}" destId="{79738B62-7AAA-4033-BEFB-4AF5C744968D}" srcOrd="1" destOrd="0" parTransId="{707F5F03-89EF-4606-A819-AE25CE6606B3}" sibTransId="{EC725E93-5AD6-4D6C-AF33-A9A906CFACC3}"/>
    <dgm:cxn modelId="{0C2CD5AC-5E05-4128-A5BF-72D786BC8BEC}" srcId="{7545D77D-D1C3-4326-BD52-32768AB182DA}" destId="{4E3EEF35-F7D5-4CCA-BBB1-90C45AE53072}" srcOrd="0" destOrd="0" parTransId="{8C26DBFD-EC02-4F07-947B-D2A2EDF65362}" sibTransId="{F6744DBE-685B-40E2-BF87-5B5319576CCC}"/>
    <dgm:cxn modelId="{2B6DDD5A-F776-4AD6-9620-46528CE293F9}" type="presOf" srcId="{4E3EEF35-F7D5-4CCA-BBB1-90C45AE53072}" destId="{649855E3-8C5D-4182-A5FC-27426E44994B}" srcOrd="0" destOrd="0" presId="urn:microsoft.com/office/officeart/2005/8/layout/hierarchy4"/>
    <dgm:cxn modelId="{A922DC15-BD8F-4887-8CF3-CA5DE93AB34B}" type="presOf" srcId="{7DAC6C51-746F-4FBA-B7EA-5EA2723473C5}" destId="{6111A900-1A54-4987-8ACC-E89B46BBBD68}" srcOrd="0" destOrd="0" presId="urn:microsoft.com/office/officeart/2005/8/layout/hierarchy4"/>
    <dgm:cxn modelId="{17DDA7CC-1383-4521-9F8A-8DADE2B920A7}" type="presParOf" srcId="{7C5544E2-706F-4594-9EB0-719982B46280}" destId="{F3886C22-976D-443B-B049-1621A5DF222E}" srcOrd="0" destOrd="0" presId="urn:microsoft.com/office/officeart/2005/8/layout/hierarchy4"/>
    <dgm:cxn modelId="{C3BBCC69-D4A0-4428-A938-3A846E936521}" type="presParOf" srcId="{F3886C22-976D-443B-B049-1621A5DF222E}" destId="{B6084277-CC94-4B52-99A2-3BDC32538B17}" srcOrd="0" destOrd="0" presId="urn:microsoft.com/office/officeart/2005/8/layout/hierarchy4"/>
    <dgm:cxn modelId="{1DEF06FE-8EDA-4DFD-B7AC-D070896B296B}" type="presParOf" srcId="{F3886C22-976D-443B-B049-1621A5DF222E}" destId="{ED53CD32-3DCF-410F-A481-A84F858B95F4}" srcOrd="1" destOrd="0" presId="urn:microsoft.com/office/officeart/2005/8/layout/hierarchy4"/>
    <dgm:cxn modelId="{7B63BBD5-4DFF-4040-9906-3F0AC1F86F16}" type="presParOf" srcId="{F3886C22-976D-443B-B049-1621A5DF222E}" destId="{4D2733AB-23B2-49A9-A7A8-08DC012F1104}" srcOrd="2" destOrd="0" presId="urn:microsoft.com/office/officeart/2005/8/layout/hierarchy4"/>
    <dgm:cxn modelId="{E4C71C0E-F4AA-4999-9161-E6EEB6091C8A}" type="presParOf" srcId="{4D2733AB-23B2-49A9-A7A8-08DC012F1104}" destId="{B903B438-F1B7-4B31-925F-BD4431472739}" srcOrd="0" destOrd="0" presId="urn:microsoft.com/office/officeart/2005/8/layout/hierarchy4"/>
    <dgm:cxn modelId="{95DF337A-1871-46E7-8D1E-4A730D79AEA2}" type="presParOf" srcId="{B903B438-F1B7-4B31-925F-BD4431472739}" destId="{649855E3-8C5D-4182-A5FC-27426E44994B}" srcOrd="0" destOrd="0" presId="urn:microsoft.com/office/officeart/2005/8/layout/hierarchy4"/>
    <dgm:cxn modelId="{03360D25-0CED-4673-89C3-5D783A12386F}" type="presParOf" srcId="{B903B438-F1B7-4B31-925F-BD4431472739}" destId="{80089D3B-3B0C-4472-8D81-6E1C8C2B23AA}" srcOrd="1" destOrd="0" presId="urn:microsoft.com/office/officeart/2005/8/layout/hierarchy4"/>
    <dgm:cxn modelId="{3BCD8E64-313E-485A-9DA2-D66BED32A27C}" type="presParOf" srcId="{B903B438-F1B7-4B31-925F-BD4431472739}" destId="{C2502994-BB0E-4B85-99C2-2FDA09B1A5DA}" srcOrd="2" destOrd="0" presId="urn:microsoft.com/office/officeart/2005/8/layout/hierarchy4"/>
    <dgm:cxn modelId="{622432D9-CD4F-4B3E-B3E4-A84E31E86A4C}" type="presParOf" srcId="{C2502994-BB0E-4B85-99C2-2FDA09B1A5DA}" destId="{2ACC5DDB-D84E-43B1-BC6C-5B2E45306CF6}" srcOrd="0" destOrd="0" presId="urn:microsoft.com/office/officeart/2005/8/layout/hierarchy4"/>
    <dgm:cxn modelId="{4D850593-6FD5-4051-8FDF-7E1934B30C42}" type="presParOf" srcId="{2ACC5DDB-D84E-43B1-BC6C-5B2E45306CF6}" destId="{6111A900-1A54-4987-8ACC-E89B46BBBD68}" srcOrd="0" destOrd="0" presId="urn:microsoft.com/office/officeart/2005/8/layout/hierarchy4"/>
    <dgm:cxn modelId="{59D5452B-78D2-4159-BCA3-909671D16286}" type="presParOf" srcId="{2ACC5DDB-D84E-43B1-BC6C-5B2E45306CF6}" destId="{0369B4AF-6998-4F79-8E4C-8ACF6148C9A7}" srcOrd="1" destOrd="0" presId="urn:microsoft.com/office/officeart/2005/8/layout/hierarchy4"/>
    <dgm:cxn modelId="{A870CB5E-2D5F-401F-BEFD-40F365FDB242}" type="presParOf" srcId="{C2502994-BB0E-4B85-99C2-2FDA09B1A5DA}" destId="{DF932F9D-DF65-4696-AF08-5D28CFF03544}" srcOrd="1" destOrd="0" presId="urn:microsoft.com/office/officeart/2005/8/layout/hierarchy4"/>
    <dgm:cxn modelId="{9E0BFF78-4210-4DD2-B535-03402EE63359}" type="presParOf" srcId="{C2502994-BB0E-4B85-99C2-2FDA09B1A5DA}" destId="{3ACCECE7-DB12-4C5A-B0EB-B16BE02D65CB}" srcOrd="2" destOrd="0" presId="urn:microsoft.com/office/officeart/2005/8/layout/hierarchy4"/>
    <dgm:cxn modelId="{0DB97A27-BDD6-4861-9CD7-502B8AA0E130}" type="presParOf" srcId="{3ACCECE7-DB12-4C5A-B0EB-B16BE02D65CB}" destId="{E2660C7D-BE4B-4BDD-B525-D59AB7C0037C}" srcOrd="0" destOrd="0" presId="urn:microsoft.com/office/officeart/2005/8/layout/hierarchy4"/>
    <dgm:cxn modelId="{80A9AD4F-E2A8-421A-93AD-83B4EC592289}" type="presParOf" srcId="{3ACCECE7-DB12-4C5A-B0EB-B16BE02D65CB}" destId="{28101233-433D-4553-86D8-6D29D82FF478}" srcOrd="1" destOrd="0" presId="urn:microsoft.com/office/officeart/2005/8/layout/hierarchy4"/>
    <dgm:cxn modelId="{EC965A54-84E3-42C5-B708-291727062739}" type="presParOf" srcId="{4D2733AB-23B2-49A9-A7A8-08DC012F1104}" destId="{207CEEED-F082-4512-96AA-A40513D61743}" srcOrd="1" destOrd="0" presId="urn:microsoft.com/office/officeart/2005/8/layout/hierarchy4"/>
    <dgm:cxn modelId="{B1B5DECE-4D96-4682-9233-3D39F5D95C48}" type="presParOf" srcId="{4D2733AB-23B2-49A9-A7A8-08DC012F1104}" destId="{CFA7BAC4-D212-4B28-A5DC-580F6694630E}" srcOrd="2" destOrd="0" presId="urn:microsoft.com/office/officeart/2005/8/layout/hierarchy4"/>
    <dgm:cxn modelId="{C1356C42-FD0B-4B28-8215-B709742EC357}" type="presParOf" srcId="{CFA7BAC4-D212-4B28-A5DC-580F6694630E}" destId="{3F1A750E-8405-4041-9B17-C0DC8DDE98D7}" srcOrd="0" destOrd="0" presId="urn:microsoft.com/office/officeart/2005/8/layout/hierarchy4"/>
    <dgm:cxn modelId="{41B035EE-3FB5-4CB1-928E-FA0B38257B82}" type="presParOf" srcId="{CFA7BAC4-D212-4B28-A5DC-580F6694630E}" destId="{D6FBECF5-BA0D-4CF3-9E4E-0DAE322C28A9}" srcOrd="1" destOrd="0" presId="urn:microsoft.com/office/officeart/2005/8/layout/hierarchy4"/>
    <dgm:cxn modelId="{85ACA8F6-4C49-46A5-98E1-9F3AE9B145B9}" type="presParOf" srcId="{CFA7BAC4-D212-4B28-A5DC-580F6694630E}" destId="{65D21642-835A-4F13-BCB0-F82D72DB6FFE}" srcOrd="2" destOrd="0" presId="urn:microsoft.com/office/officeart/2005/8/layout/hierarchy4"/>
    <dgm:cxn modelId="{B130AE42-407E-4152-9110-75B2CEBB6A51}" type="presParOf" srcId="{65D21642-835A-4F13-BCB0-F82D72DB6FFE}" destId="{C0A54A8E-DA19-430E-95B8-809C4694A14A}" srcOrd="0" destOrd="0" presId="urn:microsoft.com/office/officeart/2005/8/layout/hierarchy4"/>
    <dgm:cxn modelId="{A9EB31B8-6684-496B-A5BC-6F85FB07C0D4}" type="presParOf" srcId="{C0A54A8E-DA19-430E-95B8-809C4694A14A}" destId="{D273140B-1095-46A5-BF3E-A7B6B8B22DAB}" srcOrd="0" destOrd="0" presId="urn:microsoft.com/office/officeart/2005/8/layout/hierarchy4"/>
    <dgm:cxn modelId="{C7CFB39F-77AF-462E-A86D-112F489DB1E1}" type="presParOf" srcId="{C0A54A8E-DA19-430E-95B8-809C4694A14A}" destId="{7C5229E2-B192-47E9-A607-E76A8D60E525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084277-CC94-4B52-99A2-3BDC32538B17}">
      <dsp:nvSpPr>
        <dsp:cNvPr id="0" name=""/>
        <dsp:cNvSpPr/>
      </dsp:nvSpPr>
      <dsp:spPr>
        <a:xfrm>
          <a:off x="1242424" y="7936"/>
          <a:ext cx="5080021" cy="5177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Wave </a:t>
          </a:r>
          <a:endParaRPr lang="en-US" sz="3200" kern="1200" dirty="0"/>
        </a:p>
      </dsp:txBody>
      <dsp:txXfrm>
        <a:off x="1257588" y="23100"/>
        <a:ext cx="5049693" cy="487418"/>
      </dsp:txXfrm>
    </dsp:sp>
    <dsp:sp modelId="{649855E3-8C5D-4182-A5FC-27426E44994B}">
      <dsp:nvSpPr>
        <dsp:cNvPr id="0" name=""/>
        <dsp:cNvSpPr/>
      </dsp:nvSpPr>
      <dsp:spPr>
        <a:xfrm>
          <a:off x="152387" y="1223678"/>
          <a:ext cx="3494956" cy="7379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Mechanical </a:t>
          </a:r>
          <a:endParaRPr lang="en-US" sz="3300" kern="1200" dirty="0"/>
        </a:p>
      </dsp:txBody>
      <dsp:txXfrm>
        <a:off x="174002" y="1245293"/>
        <a:ext cx="3451726" cy="694768"/>
      </dsp:txXfrm>
    </dsp:sp>
    <dsp:sp modelId="{6111A900-1A54-4987-8ACC-E89B46BBBD68}">
      <dsp:nvSpPr>
        <dsp:cNvPr id="0" name=""/>
        <dsp:cNvSpPr/>
      </dsp:nvSpPr>
      <dsp:spPr>
        <a:xfrm>
          <a:off x="2" y="2895620"/>
          <a:ext cx="1851049" cy="60292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Transverse</a:t>
          </a:r>
          <a:endParaRPr lang="en-US" sz="2500" kern="1200" dirty="0"/>
        </a:p>
      </dsp:txBody>
      <dsp:txXfrm>
        <a:off x="17661" y="2913279"/>
        <a:ext cx="1815731" cy="567609"/>
      </dsp:txXfrm>
    </dsp:sp>
    <dsp:sp modelId="{E2660C7D-BE4B-4BDD-B525-D59AB7C0037C}">
      <dsp:nvSpPr>
        <dsp:cNvPr id="0" name=""/>
        <dsp:cNvSpPr/>
      </dsp:nvSpPr>
      <dsp:spPr>
        <a:xfrm>
          <a:off x="2209804" y="2895620"/>
          <a:ext cx="1851049" cy="60297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longitudinal</a:t>
          </a:r>
          <a:endParaRPr lang="en-US" sz="2500" kern="1200" dirty="0"/>
        </a:p>
      </dsp:txBody>
      <dsp:txXfrm>
        <a:off x="2227465" y="2913281"/>
        <a:ext cx="1815727" cy="567653"/>
      </dsp:txXfrm>
    </dsp:sp>
    <dsp:sp modelId="{3F1A750E-8405-4041-9B17-C0DC8DDE98D7}">
      <dsp:nvSpPr>
        <dsp:cNvPr id="0" name=""/>
        <dsp:cNvSpPr/>
      </dsp:nvSpPr>
      <dsp:spPr>
        <a:xfrm>
          <a:off x="3855147" y="1273426"/>
          <a:ext cx="3679294" cy="7839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Electromagnetic </a:t>
          </a:r>
          <a:endParaRPr lang="en-US" sz="3300" kern="1200" dirty="0"/>
        </a:p>
      </dsp:txBody>
      <dsp:txXfrm>
        <a:off x="3878109" y="1296388"/>
        <a:ext cx="3633370" cy="738042"/>
      </dsp:txXfrm>
    </dsp:sp>
    <dsp:sp modelId="{D273140B-1095-46A5-BF3E-A7B6B8B22DAB}">
      <dsp:nvSpPr>
        <dsp:cNvPr id="0" name=""/>
        <dsp:cNvSpPr/>
      </dsp:nvSpPr>
      <dsp:spPr>
        <a:xfrm>
          <a:off x="5011590" y="2971777"/>
          <a:ext cx="1851049" cy="65565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Transverse</a:t>
          </a:r>
          <a:endParaRPr lang="en-US" sz="2500" kern="1200" dirty="0"/>
        </a:p>
      </dsp:txBody>
      <dsp:txXfrm>
        <a:off x="5030793" y="2990980"/>
        <a:ext cx="1812643" cy="6172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A5750E-FDFD-47CD-B8F2-27E98190DDC9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AA1E4F-7F6E-4E31-84DD-C82C6B8F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62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AA1E4F-7F6E-4E31-84DD-C82C6B8FF01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714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AA1E4F-7F6E-4E31-84DD-C82C6B8FF01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386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F1098FA-2C49-4C0C-9A24-559E1F3E2EC7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514A354-1C09-4C0E-863B-548151B3C4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098FA-2C49-4C0C-9A24-559E1F3E2EC7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4A354-1C09-4C0E-863B-548151B3C42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098FA-2C49-4C0C-9A24-559E1F3E2EC7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4A354-1C09-4C0E-863B-548151B3C42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098FA-2C49-4C0C-9A24-559E1F3E2EC7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4A354-1C09-4C0E-863B-548151B3C42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098FA-2C49-4C0C-9A24-559E1F3E2EC7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4A354-1C09-4C0E-863B-548151B3C4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098FA-2C49-4C0C-9A24-559E1F3E2EC7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4A354-1C09-4C0E-863B-548151B3C42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098FA-2C49-4C0C-9A24-559E1F3E2EC7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4A354-1C09-4C0E-863B-548151B3C4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1F1098FA-2C49-4C0C-9A24-559E1F3E2EC7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4A354-1C09-4C0E-863B-548151B3C4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F1098FA-2C49-4C0C-9A24-559E1F3E2EC7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514A354-1C09-4C0E-863B-548151B3C42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098FA-2C49-4C0C-9A24-559E1F3E2EC7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4A354-1C09-4C0E-863B-548151B3C4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098FA-2C49-4C0C-9A24-559E1F3E2EC7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4A354-1C09-4C0E-863B-548151B3C4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D8DE1-B816-4050-A047-DF6C5320622F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FBDEC-F5A1-46EB-BC8A-68D26D63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0428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D8DE1-B816-4050-A047-DF6C5320622F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FBDEC-F5A1-46EB-BC8A-68D26D63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4444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D8DE1-B816-4050-A047-DF6C5320622F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FBDEC-F5A1-46EB-BC8A-68D26D63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314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D8DE1-B816-4050-A047-DF6C5320622F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FBDEC-F5A1-46EB-BC8A-68D26D63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7390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D8DE1-B816-4050-A047-DF6C5320622F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FBDEC-F5A1-46EB-BC8A-68D26D63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3183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D8DE1-B816-4050-A047-DF6C5320622F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FBDEC-F5A1-46EB-BC8A-68D26D63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4987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D8DE1-B816-4050-A047-DF6C5320622F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FBDEC-F5A1-46EB-BC8A-68D26D63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954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D8DE1-B816-4050-A047-DF6C5320622F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FBDEC-F5A1-46EB-BC8A-68D26D63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3410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D8DE1-B816-4050-A047-DF6C5320622F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FBDEC-F5A1-46EB-BC8A-68D26D63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1295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D8DE1-B816-4050-A047-DF6C5320622F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FBDEC-F5A1-46EB-BC8A-68D26D63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1792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D8DE1-B816-4050-A047-DF6C5320622F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FBDEC-F5A1-46EB-BC8A-68D26D63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943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70">
          <a:fgClr>
            <a:schemeClr val="bg1"/>
          </a:fgClr>
          <a:bgClr>
            <a:schemeClr val="accent2">
              <a:lumMod val="7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F1098FA-2C49-4C0C-9A24-559E1F3E2EC7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5514A354-1C09-4C0E-863B-548151B3C42C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pct70">
          <a:fgClr>
            <a:schemeClr val="bg1"/>
          </a:fgClr>
          <a:bgClr>
            <a:schemeClr val="accent2">
              <a:lumMod val="7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7D8DE1-B816-4050-A047-DF6C5320622F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5FBDEC-F5A1-46EB-BC8A-68D26D632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974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gif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wmf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://www.cleanvideosearch.com/media/action/yt/watch?videoId=Rbuhdo0AZDU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2.xml"/><Relationship Id="rId1" Type="http://schemas.openxmlformats.org/officeDocument/2006/relationships/video" Target="file:///C:\My%20Documents\Christy's%20Stuff\Teaching%20Stuff\Media\two-point%20interference.avi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hyperlink" Target="http://www.google.com/url?sa=i&amp;source=images&amp;cd=&amp;cad=rja&amp;docid=hQRydqDVUAsGrM&amp;tbnid=IQM8kQTaPxMnWM:&amp;ved=0CAgQjRwwAA&amp;url=http://www.asdlib.org/onlineArticles/ecourseware/Bullen_XRD/XRDModule_Theory_Diffraction_3.htm&amp;ei=2X55UsTrGIydkQfDqoHoCw&amp;psig=AFQjCNFhi59ao5-Q4J-pv-9X7mO-PwIB_g&amp;ust=1383780441469740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3.png"/><Relationship Id="rId5" Type="http://schemas.openxmlformats.org/officeDocument/2006/relationships/image" Target="../media/image40.wmf"/><Relationship Id="rId4" Type="http://schemas.openxmlformats.org/officeDocument/2006/relationships/oleObject" Target="../embeddings/oleObject1.bin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CHAPTER FIVE</a:t>
            </a:r>
            <a:br>
              <a:rPr lang="en-US" dirty="0"/>
            </a:br>
            <a:r>
              <a:rPr lang="en-US" dirty="0"/>
              <a:t>OSCILLATIONS, WAVES AND OPTICS</a:t>
            </a:r>
          </a:p>
        </p:txBody>
      </p:sp>
    </p:spTree>
    <p:extLst>
      <p:ext uri="{BB962C8B-B14F-4D97-AF65-F5344CB8AC3E}">
        <p14:creationId xmlns:p14="http://schemas.microsoft.com/office/powerpoint/2010/main" val="179741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Periodic motion is any motion that repeats on a regular time </a:t>
            </a:r>
            <a:r>
              <a:rPr lang="en-US" dirty="0" smtClean="0"/>
              <a:t>basis</a:t>
            </a:r>
          </a:p>
          <a:p>
            <a:r>
              <a:rPr lang="en-US" dirty="0" smtClean="0"/>
              <a:t>Example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Rotation </a:t>
            </a:r>
            <a:r>
              <a:rPr lang="en-US" dirty="0"/>
              <a:t>of a bicycle wheel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Rising of the </a:t>
            </a:r>
            <a:r>
              <a:rPr lang="en-US" dirty="0" smtClean="0"/>
              <a:t>sun and </a:t>
            </a:r>
            <a:r>
              <a:rPr lang="en-US" dirty="0"/>
              <a:t>Change of the seasons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The </a:t>
            </a:r>
            <a:r>
              <a:rPr lang="en-US" dirty="0" smtClean="0"/>
              <a:t>tides and Bird </a:t>
            </a:r>
            <a:r>
              <a:rPr lang="en-US" dirty="0"/>
              <a:t>songs</a:t>
            </a:r>
          </a:p>
          <a:p>
            <a:endParaRPr lang="en-US" dirty="0" smtClean="0"/>
          </a:p>
          <a:p>
            <a:pPr fontAlgn="base">
              <a:buFont typeface="Wingdings" pitchFamily="2" charset="2"/>
              <a:buChar char="ü"/>
            </a:pPr>
            <a:endParaRPr lang="en-US" dirty="0"/>
          </a:p>
          <a:p>
            <a:pPr fontAlgn="base">
              <a:buFont typeface="Wingdings" pitchFamily="2" charset="2"/>
              <a:buChar char="ü"/>
            </a:pPr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dirty="0"/>
              <a:t>Periodic </a:t>
            </a:r>
            <a:r>
              <a:rPr lang="en-US" dirty="0" smtClean="0"/>
              <a:t>Motion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597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245291"/>
          </a:xfrm>
        </p:spPr>
        <p:txBody>
          <a:bodyPr>
            <a:normAutofit/>
          </a:bodyPr>
          <a:lstStyle/>
          <a:p>
            <a:r>
              <a:rPr lang="en-US" sz="3200" dirty="0" smtClean="0"/>
              <a:t>Is periodic </a:t>
            </a:r>
          </a:p>
          <a:p>
            <a:r>
              <a:rPr lang="en-US" sz="3200" dirty="0" smtClean="0"/>
              <a:t>The </a:t>
            </a:r>
            <a:r>
              <a:rPr lang="en-US" sz="3200" dirty="0"/>
              <a:t>particle oscillates back and forth about a equilibrium position. </a:t>
            </a:r>
            <a:endParaRPr lang="en-US" sz="3200" dirty="0" smtClean="0"/>
          </a:p>
          <a:p>
            <a:pPr fontAlgn="base"/>
            <a:r>
              <a:rPr kumimoji="1" lang="en-US" sz="3200" dirty="0"/>
              <a:t>the force always acts in a direction to restore the </a:t>
            </a:r>
            <a:r>
              <a:rPr kumimoji="1" lang="en-US" sz="3200" dirty="0" smtClean="0"/>
              <a:t>system </a:t>
            </a:r>
            <a:r>
              <a:rPr kumimoji="1" lang="en-US" sz="3200" dirty="0"/>
              <a:t>to its equilibrium position. </a:t>
            </a:r>
            <a:endParaRPr kumimoji="1" lang="en-US" sz="3200" dirty="0" smtClean="0"/>
          </a:p>
          <a:p>
            <a:pPr fontAlgn="base"/>
            <a:r>
              <a:rPr kumimoji="1" lang="en-US" sz="3200" dirty="0" smtClean="0"/>
              <a:t>Such </a:t>
            </a:r>
            <a:r>
              <a:rPr kumimoji="1" lang="en-US" sz="3200" dirty="0"/>
              <a:t>a force is </a:t>
            </a:r>
            <a:r>
              <a:rPr kumimoji="1" lang="en-US" sz="3200" dirty="0" smtClean="0"/>
              <a:t>called </a:t>
            </a:r>
            <a:r>
              <a:rPr kumimoji="1" lang="en-US" sz="3200" dirty="0"/>
              <a:t>a “restoring </a:t>
            </a:r>
            <a:r>
              <a:rPr kumimoji="1" lang="en-US" sz="3200" dirty="0" smtClean="0"/>
              <a:t>force”</a:t>
            </a:r>
            <a:endParaRPr kumimoji="1" lang="en-US" sz="3200" dirty="0" smtClean="0"/>
          </a:p>
          <a:p>
            <a:pPr fontAlgn="base"/>
            <a:r>
              <a:rPr lang="en-US" sz="3200" dirty="0"/>
              <a:t>Oscillators are the basic building blocks of waves.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kumimoji="1" lang="en-US" dirty="0" smtClean="0">
                <a:effectLst/>
              </a:rPr>
              <a:t>Oscillatory Motion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499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3400" y="1159813"/>
            <a:ext cx="8229600" cy="5698187"/>
          </a:xfrm>
        </p:spPr>
        <p:txBody>
          <a:bodyPr/>
          <a:lstStyle/>
          <a:p>
            <a:r>
              <a:rPr lang="en-US" b="1" u="sng" dirty="0" smtClean="0">
                <a:solidFill>
                  <a:srgbClr val="FFFF00"/>
                </a:solidFill>
              </a:rPr>
              <a:t>Period</a:t>
            </a:r>
            <a:r>
              <a:rPr lang="en-US" b="1" dirty="0" smtClean="0">
                <a:solidFill>
                  <a:srgbClr val="FFFF00"/>
                </a:solidFill>
              </a:rPr>
              <a:t> </a:t>
            </a:r>
            <a:r>
              <a:rPr lang="en-US" b="1" dirty="0">
                <a:solidFill>
                  <a:srgbClr val="FFFF00"/>
                </a:solidFill>
              </a:rPr>
              <a:t>(</a:t>
            </a:r>
            <a:r>
              <a:rPr lang="en-US" dirty="0">
                <a:solidFill>
                  <a:srgbClr val="FFFF00"/>
                </a:solidFill>
              </a:rPr>
              <a:t>T(s</a:t>
            </a:r>
            <a:r>
              <a:rPr lang="en-US" dirty="0" smtClean="0">
                <a:solidFill>
                  <a:srgbClr val="FFFF00"/>
                </a:solidFill>
              </a:rPr>
              <a:t>)): t</a:t>
            </a:r>
            <a:r>
              <a:rPr lang="en-US" dirty="0" smtClean="0"/>
              <a:t>he </a:t>
            </a:r>
            <a:r>
              <a:rPr lang="en-US" dirty="0"/>
              <a:t>time necessary  for one complete cycle (a complete repetition of the motion</a:t>
            </a:r>
            <a:r>
              <a:rPr lang="en-US" dirty="0" smtClean="0"/>
              <a:t>).</a:t>
            </a:r>
          </a:p>
          <a:p>
            <a:endParaRPr lang="en-US" sz="900" dirty="0" smtClean="0">
              <a:solidFill>
                <a:srgbClr val="FFFF00"/>
              </a:solidFill>
            </a:endParaRPr>
          </a:p>
          <a:p>
            <a:pPr fontAlgn="base"/>
            <a:r>
              <a:rPr kumimoji="1" lang="en-US" dirty="0"/>
              <a:t>F</a:t>
            </a:r>
            <a:r>
              <a:rPr kumimoji="1" lang="en-US" b="1" u="sng" dirty="0" smtClean="0">
                <a:solidFill>
                  <a:srgbClr val="FFFF00"/>
                </a:solidFill>
              </a:rPr>
              <a:t>requency</a:t>
            </a:r>
            <a:r>
              <a:rPr kumimoji="1" lang="en-US" dirty="0" smtClean="0">
                <a:solidFill>
                  <a:srgbClr val="FFFF00"/>
                </a:solidFill>
              </a:rPr>
              <a:t>(Hz </a:t>
            </a:r>
            <a:r>
              <a:rPr kumimoji="1" lang="en-US" dirty="0">
                <a:solidFill>
                  <a:srgbClr val="FFFF00"/>
                </a:solidFill>
              </a:rPr>
              <a:t>or </a:t>
            </a:r>
            <a:r>
              <a:rPr kumimoji="1" lang="en-US" dirty="0" smtClean="0">
                <a:solidFill>
                  <a:srgbClr val="FFFF00"/>
                </a:solidFill>
              </a:rPr>
              <a:t>cycle/s): t</a:t>
            </a:r>
            <a:r>
              <a:rPr kumimoji="1" lang="en-US" dirty="0" smtClean="0"/>
              <a:t>he </a:t>
            </a:r>
            <a:r>
              <a:rPr kumimoji="1" lang="en-US" dirty="0"/>
              <a:t>number of cycles per unit </a:t>
            </a:r>
            <a:r>
              <a:rPr kumimoji="1" lang="en-US" dirty="0" smtClean="0"/>
              <a:t>time.</a:t>
            </a:r>
          </a:p>
          <a:p>
            <a:pPr fontAlgn="base"/>
            <a:endParaRPr kumimoji="1" lang="en-US" sz="900" b="1" u="sng" dirty="0">
              <a:solidFill>
                <a:srgbClr val="FFFF00"/>
              </a:solidFill>
            </a:endParaRPr>
          </a:p>
          <a:p>
            <a:pPr fontAlgn="base"/>
            <a:r>
              <a:rPr lang="en-US" b="1" u="sng" dirty="0" smtClean="0">
                <a:solidFill>
                  <a:srgbClr val="FFFF00"/>
                </a:solidFill>
              </a:rPr>
              <a:t>Equilibrium</a:t>
            </a:r>
            <a:r>
              <a:rPr lang="en-US" b="1" dirty="0" smtClean="0">
                <a:solidFill>
                  <a:srgbClr val="FFFF00"/>
                </a:solidFill>
              </a:rPr>
              <a:t> </a:t>
            </a:r>
            <a:r>
              <a:rPr lang="en-US" b="1" dirty="0">
                <a:solidFill>
                  <a:srgbClr val="FFFF00"/>
                </a:solidFill>
              </a:rPr>
              <a:t>(0): </a:t>
            </a:r>
            <a:r>
              <a:rPr lang="en-US" b="1" dirty="0"/>
              <a:t>the spot the mass would come to rest when not disturbed </a:t>
            </a:r>
            <a:r>
              <a:rPr lang="en-US" b="1" dirty="0" smtClean="0"/>
              <a:t>( </a:t>
            </a:r>
            <a:r>
              <a:rPr lang="en-US" b="1" dirty="0" err="1">
                <a:solidFill>
                  <a:srgbClr val="FFFF00"/>
                </a:solidFill>
              </a:rPr>
              <a:t>F</a:t>
            </a:r>
            <a:r>
              <a:rPr lang="en-US" b="1" i="1" baseline="-25000" dirty="0" err="1">
                <a:solidFill>
                  <a:srgbClr val="FFFF00"/>
                </a:solidFill>
              </a:rPr>
              <a:t>net</a:t>
            </a:r>
            <a:r>
              <a:rPr lang="en-US" b="1" dirty="0">
                <a:solidFill>
                  <a:srgbClr val="FFFF00"/>
                </a:solidFill>
              </a:rPr>
              <a:t> = 0</a:t>
            </a:r>
            <a:r>
              <a:rPr lang="en-US" b="1" dirty="0" smtClean="0">
                <a:solidFill>
                  <a:srgbClr val="FFFF00"/>
                </a:solidFill>
              </a:rPr>
              <a:t>.)</a:t>
            </a:r>
          </a:p>
          <a:p>
            <a:pPr fontAlgn="base"/>
            <a:endParaRPr lang="en-US" sz="900" dirty="0">
              <a:solidFill>
                <a:srgbClr val="FFFF00"/>
              </a:solidFill>
            </a:endParaRPr>
          </a:p>
          <a:p>
            <a:pPr fontAlgn="base"/>
            <a:r>
              <a:rPr lang="en-US" b="1" u="sng" dirty="0">
                <a:solidFill>
                  <a:srgbClr val="FFFF00"/>
                </a:solidFill>
              </a:rPr>
              <a:t>Displacement:</a:t>
            </a:r>
            <a:r>
              <a:rPr lang="en-US" b="1" dirty="0">
                <a:solidFill>
                  <a:srgbClr val="FFFF00"/>
                </a:solidFill>
              </a:rPr>
              <a:t> (</a:t>
            </a:r>
            <a:r>
              <a:rPr lang="en-US" b="1" i="1" dirty="0">
                <a:solidFill>
                  <a:srgbClr val="FFFF00"/>
                </a:solidFill>
              </a:rPr>
              <a:t>s</a:t>
            </a:r>
            <a:r>
              <a:rPr lang="en-US" b="1" dirty="0">
                <a:solidFill>
                  <a:srgbClr val="FFFF00"/>
                </a:solidFill>
              </a:rPr>
              <a:t> or </a:t>
            </a:r>
            <a:r>
              <a:rPr lang="en-US" b="1" i="1" dirty="0">
                <a:solidFill>
                  <a:srgbClr val="FFFF00"/>
                </a:solidFill>
              </a:rPr>
              <a:t>x</a:t>
            </a:r>
            <a:r>
              <a:rPr lang="en-US" b="1" dirty="0">
                <a:solidFill>
                  <a:srgbClr val="FFFF00"/>
                </a:solidFill>
              </a:rPr>
              <a:t>): </a:t>
            </a:r>
            <a:r>
              <a:rPr lang="en-US" b="1" dirty="0"/>
              <a:t>distance from equilibrium</a:t>
            </a:r>
            <a:r>
              <a:rPr lang="en-US" b="1" dirty="0" smtClean="0"/>
              <a:t>.</a:t>
            </a:r>
          </a:p>
          <a:p>
            <a:pPr fontAlgn="base"/>
            <a:endParaRPr lang="en-US" b="1" dirty="0" smtClean="0"/>
          </a:p>
          <a:p>
            <a:pPr fontAlgn="base"/>
            <a:r>
              <a:rPr kumimoji="1" lang="en-US" b="1" u="sng" dirty="0" smtClean="0">
                <a:solidFill>
                  <a:srgbClr val="FFFF00"/>
                </a:solidFill>
              </a:rPr>
              <a:t>Amplitude:</a:t>
            </a:r>
            <a:r>
              <a:rPr kumimoji="1" lang="en-US" dirty="0" smtClean="0">
                <a:solidFill>
                  <a:srgbClr val="FFFF00"/>
                </a:solidFill>
              </a:rPr>
              <a:t> t</a:t>
            </a:r>
            <a:r>
              <a:rPr kumimoji="1" lang="en-US" dirty="0" smtClean="0"/>
              <a:t>he </a:t>
            </a:r>
            <a:r>
              <a:rPr kumimoji="1" lang="en-US" dirty="0"/>
              <a:t>magnitude of the maximum </a:t>
            </a:r>
            <a:r>
              <a:rPr kumimoji="1" lang="en-US" dirty="0" smtClean="0"/>
              <a:t>displacement from </a:t>
            </a:r>
            <a:r>
              <a:rPr kumimoji="1" lang="en-US" dirty="0"/>
              <a:t>equilibrium </a:t>
            </a:r>
            <a:r>
              <a:rPr kumimoji="1" lang="en-US" dirty="0" smtClean="0"/>
              <a:t>position.</a:t>
            </a:r>
            <a:endParaRPr lang="en-US" dirty="0"/>
          </a:p>
          <a:p>
            <a:pPr fontAlgn="base"/>
            <a:endParaRPr lang="en-US" dirty="0" smtClean="0"/>
          </a:p>
          <a:p>
            <a:pPr fontAlgn="base"/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09283" y="228600"/>
            <a:ext cx="719934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Common </a:t>
            </a:r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Terminologies </a:t>
            </a:r>
            <a:endParaRPr lang="en-US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20609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Line 33"/>
          <p:cNvSpPr>
            <a:spLocks noGrp="1" noChangeShapeType="1"/>
          </p:cNvSpPr>
          <p:nvPr>
            <p:ph idx="1"/>
          </p:nvPr>
        </p:nvSpPr>
        <p:spPr bwMode="auto">
          <a:xfrm>
            <a:off x="685800" y="3417094"/>
            <a:ext cx="7162800" cy="23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2136775" y="2045494"/>
            <a:ext cx="4870450" cy="2767013"/>
            <a:chOff x="985" y="1205"/>
            <a:chExt cx="3068" cy="1743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985" y="1205"/>
              <a:ext cx="1536" cy="1728"/>
              <a:chOff x="912" y="960"/>
              <a:chExt cx="4416" cy="1728"/>
            </a:xfrm>
          </p:grpSpPr>
          <p:grpSp>
            <p:nvGrpSpPr>
              <p:cNvPr id="13" name="Group 12"/>
              <p:cNvGrpSpPr>
                <a:grpSpLocks/>
              </p:cNvGrpSpPr>
              <p:nvPr/>
            </p:nvGrpSpPr>
            <p:grpSpPr bwMode="auto">
              <a:xfrm>
                <a:off x="912" y="960"/>
                <a:ext cx="2208" cy="864"/>
                <a:chOff x="912" y="960"/>
                <a:chExt cx="2208" cy="864"/>
              </a:xfrm>
            </p:grpSpPr>
            <p:sp>
              <p:nvSpPr>
                <p:cNvPr id="17" name="Freeform 16"/>
                <p:cNvSpPr>
                  <a:spLocks/>
                </p:cNvSpPr>
                <p:nvPr/>
              </p:nvSpPr>
              <p:spPr bwMode="auto">
                <a:xfrm>
                  <a:off x="912" y="960"/>
                  <a:ext cx="1104" cy="864"/>
                </a:xfrm>
                <a:custGeom>
                  <a:avLst/>
                  <a:gdLst>
                    <a:gd name="T0" fmla="*/ 0 w 1104"/>
                    <a:gd name="T1" fmla="*/ 864 h 864"/>
                    <a:gd name="T2" fmla="*/ 192 w 1104"/>
                    <a:gd name="T3" fmla="*/ 576 h 864"/>
                    <a:gd name="T4" fmla="*/ 336 w 1104"/>
                    <a:gd name="T5" fmla="*/ 384 h 864"/>
                    <a:gd name="T6" fmla="*/ 528 w 1104"/>
                    <a:gd name="T7" fmla="*/ 192 h 864"/>
                    <a:gd name="T8" fmla="*/ 864 w 1104"/>
                    <a:gd name="T9" fmla="*/ 48 h 864"/>
                    <a:gd name="T10" fmla="*/ 1104 w 1104"/>
                    <a:gd name="T11" fmla="*/ 0 h 8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104" h="864">
                      <a:moveTo>
                        <a:pt x="0" y="864"/>
                      </a:moveTo>
                      <a:cubicBezTo>
                        <a:pt x="68" y="760"/>
                        <a:pt x="136" y="656"/>
                        <a:pt x="192" y="576"/>
                      </a:cubicBezTo>
                      <a:cubicBezTo>
                        <a:pt x="248" y="496"/>
                        <a:pt x="280" y="448"/>
                        <a:pt x="336" y="384"/>
                      </a:cubicBezTo>
                      <a:cubicBezTo>
                        <a:pt x="392" y="320"/>
                        <a:pt x="440" y="248"/>
                        <a:pt x="528" y="192"/>
                      </a:cubicBezTo>
                      <a:cubicBezTo>
                        <a:pt x="616" y="136"/>
                        <a:pt x="768" y="80"/>
                        <a:pt x="864" y="48"/>
                      </a:cubicBezTo>
                      <a:cubicBezTo>
                        <a:pt x="960" y="16"/>
                        <a:pt x="1064" y="16"/>
                        <a:pt x="1104" y="0"/>
                      </a:cubicBez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18" name="Freeform 17"/>
                <p:cNvSpPr>
                  <a:spLocks/>
                </p:cNvSpPr>
                <p:nvPr/>
              </p:nvSpPr>
              <p:spPr bwMode="auto">
                <a:xfrm flipH="1">
                  <a:off x="2016" y="960"/>
                  <a:ext cx="1104" cy="864"/>
                </a:xfrm>
                <a:custGeom>
                  <a:avLst/>
                  <a:gdLst>
                    <a:gd name="T0" fmla="*/ 0 w 1104"/>
                    <a:gd name="T1" fmla="*/ 864 h 864"/>
                    <a:gd name="T2" fmla="*/ 192 w 1104"/>
                    <a:gd name="T3" fmla="*/ 576 h 864"/>
                    <a:gd name="T4" fmla="*/ 336 w 1104"/>
                    <a:gd name="T5" fmla="*/ 384 h 864"/>
                    <a:gd name="T6" fmla="*/ 528 w 1104"/>
                    <a:gd name="T7" fmla="*/ 192 h 864"/>
                    <a:gd name="T8" fmla="*/ 864 w 1104"/>
                    <a:gd name="T9" fmla="*/ 48 h 864"/>
                    <a:gd name="T10" fmla="*/ 1104 w 1104"/>
                    <a:gd name="T11" fmla="*/ 0 h 8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104" h="864">
                      <a:moveTo>
                        <a:pt x="0" y="864"/>
                      </a:moveTo>
                      <a:cubicBezTo>
                        <a:pt x="68" y="760"/>
                        <a:pt x="136" y="656"/>
                        <a:pt x="192" y="576"/>
                      </a:cubicBezTo>
                      <a:cubicBezTo>
                        <a:pt x="248" y="496"/>
                        <a:pt x="280" y="448"/>
                        <a:pt x="336" y="384"/>
                      </a:cubicBezTo>
                      <a:cubicBezTo>
                        <a:pt x="392" y="320"/>
                        <a:pt x="440" y="248"/>
                        <a:pt x="528" y="192"/>
                      </a:cubicBezTo>
                      <a:cubicBezTo>
                        <a:pt x="616" y="136"/>
                        <a:pt x="768" y="80"/>
                        <a:pt x="864" y="48"/>
                      </a:cubicBezTo>
                      <a:cubicBezTo>
                        <a:pt x="960" y="16"/>
                        <a:pt x="1064" y="16"/>
                        <a:pt x="1104" y="0"/>
                      </a:cubicBez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endParaRPr lang="en-US"/>
                </a:p>
              </p:txBody>
            </p:sp>
          </p:grpSp>
          <p:grpSp>
            <p:nvGrpSpPr>
              <p:cNvPr id="14" name="Group 13"/>
              <p:cNvGrpSpPr>
                <a:grpSpLocks/>
              </p:cNvGrpSpPr>
              <p:nvPr/>
            </p:nvGrpSpPr>
            <p:grpSpPr bwMode="auto">
              <a:xfrm flipV="1">
                <a:off x="3120" y="1824"/>
                <a:ext cx="2208" cy="864"/>
                <a:chOff x="912" y="960"/>
                <a:chExt cx="2208" cy="864"/>
              </a:xfrm>
            </p:grpSpPr>
            <p:sp>
              <p:nvSpPr>
                <p:cNvPr id="15" name="Freeform 14"/>
                <p:cNvSpPr>
                  <a:spLocks/>
                </p:cNvSpPr>
                <p:nvPr/>
              </p:nvSpPr>
              <p:spPr bwMode="auto">
                <a:xfrm>
                  <a:off x="912" y="960"/>
                  <a:ext cx="1104" cy="864"/>
                </a:xfrm>
                <a:custGeom>
                  <a:avLst/>
                  <a:gdLst>
                    <a:gd name="T0" fmla="*/ 0 w 1104"/>
                    <a:gd name="T1" fmla="*/ 864 h 864"/>
                    <a:gd name="T2" fmla="*/ 192 w 1104"/>
                    <a:gd name="T3" fmla="*/ 576 h 864"/>
                    <a:gd name="T4" fmla="*/ 336 w 1104"/>
                    <a:gd name="T5" fmla="*/ 384 h 864"/>
                    <a:gd name="T6" fmla="*/ 528 w 1104"/>
                    <a:gd name="T7" fmla="*/ 192 h 864"/>
                    <a:gd name="T8" fmla="*/ 864 w 1104"/>
                    <a:gd name="T9" fmla="*/ 48 h 864"/>
                    <a:gd name="T10" fmla="*/ 1104 w 1104"/>
                    <a:gd name="T11" fmla="*/ 0 h 8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104" h="864">
                      <a:moveTo>
                        <a:pt x="0" y="864"/>
                      </a:moveTo>
                      <a:cubicBezTo>
                        <a:pt x="68" y="760"/>
                        <a:pt x="136" y="656"/>
                        <a:pt x="192" y="576"/>
                      </a:cubicBezTo>
                      <a:cubicBezTo>
                        <a:pt x="248" y="496"/>
                        <a:pt x="280" y="448"/>
                        <a:pt x="336" y="384"/>
                      </a:cubicBezTo>
                      <a:cubicBezTo>
                        <a:pt x="392" y="320"/>
                        <a:pt x="440" y="248"/>
                        <a:pt x="528" y="192"/>
                      </a:cubicBezTo>
                      <a:cubicBezTo>
                        <a:pt x="616" y="136"/>
                        <a:pt x="768" y="80"/>
                        <a:pt x="864" y="48"/>
                      </a:cubicBezTo>
                      <a:cubicBezTo>
                        <a:pt x="960" y="16"/>
                        <a:pt x="1064" y="16"/>
                        <a:pt x="1104" y="0"/>
                      </a:cubicBez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16" name="Freeform 15"/>
                <p:cNvSpPr>
                  <a:spLocks/>
                </p:cNvSpPr>
                <p:nvPr/>
              </p:nvSpPr>
              <p:spPr bwMode="auto">
                <a:xfrm flipH="1">
                  <a:off x="2016" y="960"/>
                  <a:ext cx="1104" cy="864"/>
                </a:xfrm>
                <a:custGeom>
                  <a:avLst/>
                  <a:gdLst>
                    <a:gd name="T0" fmla="*/ 0 w 1104"/>
                    <a:gd name="T1" fmla="*/ 864 h 864"/>
                    <a:gd name="T2" fmla="*/ 192 w 1104"/>
                    <a:gd name="T3" fmla="*/ 576 h 864"/>
                    <a:gd name="T4" fmla="*/ 336 w 1104"/>
                    <a:gd name="T5" fmla="*/ 384 h 864"/>
                    <a:gd name="T6" fmla="*/ 528 w 1104"/>
                    <a:gd name="T7" fmla="*/ 192 h 864"/>
                    <a:gd name="T8" fmla="*/ 864 w 1104"/>
                    <a:gd name="T9" fmla="*/ 48 h 864"/>
                    <a:gd name="T10" fmla="*/ 1104 w 1104"/>
                    <a:gd name="T11" fmla="*/ 0 h 8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104" h="864">
                      <a:moveTo>
                        <a:pt x="0" y="864"/>
                      </a:moveTo>
                      <a:cubicBezTo>
                        <a:pt x="68" y="760"/>
                        <a:pt x="136" y="656"/>
                        <a:pt x="192" y="576"/>
                      </a:cubicBezTo>
                      <a:cubicBezTo>
                        <a:pt x="248" y="496"/>
                        <a:pt x="280" y="448"/>
                        <a:pt x="336" y="384"/>
                      </a:cubicBezTo>
                      <a:cubicBezTo>
                        <a:pt x="392" y="320"/>
                        <a:pt x="440" y="248"/>
                        <a:pt x="528" y="192"/>
                      </a:cubicBezTo>
                      <a:cubicBezTo>
                        <a:pt x="616" y="136"/>
                        <a:pt x="768" y="80"/>
                        <a:pt x="864" y="48"/>
                      </a:cubicBezTo>
                      <a:cubicBezTo>
                        <a:pt x="960" y="16"/>
                        <a:pt x="1064" y="16"/>
                        <a:pt x="1104" y="0"/>
                      </a:cubicBez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endParaRPr lang="en-US"/>
                </a:p>
              </p:txBody>
            </p:sp>
          </p:grpSp>
        </p:grpSp>
        <p:grpSp>
          <p:nvGrpSpPr>
            <p:cNvPr id="6" name="Group 5"/>
            <p:cNvGrpSpPr>
              <a:grpSpLocks/>
            </p:cNvGrpSpPr>
            <p:nvPr/>
          </p:nvGrpSpPr>
          <p:grpSpPr bwMode="auto">
            <a:xfrm>
              <a:off x="2517" y="1220"/>
              <a:ext cx="1536" cy="1728"/>
              <a:chOff x="912" y="960"/>
              <a:chExt cx="4416" cy="1728"/>
            </a:xfrm>
          </p:grpSpPr>
          <p:grpSp>
            <p:nvGrpSpPr>
              <p:cNvPr id="7" name="Group 6"/>
              <p:cNvGrpSpPr>
                <a:grpSpLocks/>
              </p:cNvGrpSpPr>
              <p:nvPr/>
            </p:nvGrpSpPr>
            <p:grpSpPr bwMode="auto">
              <a:xfrm>
                <a:off x="912" y="960"/>
                <a:ext cx="2208" cy="864"/>
                <a:chOff x="912" y="960"/>
                <a:chExt cx="2208" cy="864"/>
              </a:xfrm>
            </p:grpSpPr>
            <p:sp>
              <p:nvSpPr>
                <p:cNvPr id="11" name="Freeform 10"/>
                <p:cNvSpPr>
                  <a:spLocks/>
                </p:cNvSpPr>
                <p:nvPr/>
              </p:nvSpPr>
              <p:spPr bwMode="auto">
                <a:xfrm>
                  <a:off x="912" y="960"/>
                  <a:ext cx="1104" cy="864"/>
                </a:xfrm>
                <a:custGeom>
                  <a:avLst/>
                  <a:gdLst>
                    <a:gd name="T0" fmla="*/ 0 w 1104"/>
                    <a:gd name="T1" fmla="*/ 864 h 864"/>
                    <a:gd name="T2" fmla="*/ 192 w 1104"/>
                    <a:gd name="T3" fmla="*/ 576 h 864"/>
                    <a:gd name="T4" fmla="*/ 336 w 1104"/>
                    <a:gd name="T5" fmla="*/ 384 h 864"/>
                    <a:gd name="T6" fmla="*/ 528 w 1104"/>
                    <a:gd name="T7" fmla="*/ 192 h 864"/>
                    <a:gd name="T8" fmla="*/ 864 w 1104"/>
                    <a:gd name="T9" fmla="*/ 48 h 864"/>
                    <a:gd name="T10" fmla="*/ 1104 w 1104"/>
                    <a:gd name="T11" fmla="*/ 0 h 8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104" h="864">
                      <a:moveTo>
                        <a:pt x="0" y="864"/>
                      </a:moveTo>
                      <a:cubicBezTo>
                        <a:pt x="68" y="760"/>
                        <a:pt x="136" y="656"/>
                        <a:pt x="192" y="576"/>
                      </a:cubicBezTo>
                      <a:cubicBezTo>
                        <a:pt x="248" y="496"/>
                        <a:pt x="280" y="448"/>
                        <a:pt x="336" y="384"/>
                      </a:cubicBezTo>
                      <a:cubicBezTo>
                        <a:pt x="392" y="320"/>
                        <a:pt x="440" y="248"/>
                        <a:pt x="528" y="192"/>
                      </a:cubicBezTo>
                      <a:cubicBezTo>
                        <a:pt x="616" y="136"/>
                        <a:pt x="768" y="80"/>
                        <a:pt x="864" y="48"/>
                      </a:cubicBezTo>
                      <a:cubicBezTo>
                        <a:pt x="960" y="16"/>
                        <a:pt x="1064" y="16"/>
                        <a:pt x="1104" y="0"/>
                      </a:cubicBez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12" name="Freeform 11"/>
                <p:cNvSpPr>
                  <a:spLocks/>
                </p:cNvSpPr>
                <p:nvPr/>
              </p:nvSpPr>
              <p:spPr bwMode="auto">
                <a:xfrm flipH="1">
                  <a:off x="2016" y="960"/>
                  <a:ext cx="1104" cy="864"/>
                </a:xfrm>
                <a:custGeom>
                  <a:avLst/>
                  <a:gdLst>
                    <a:gd name="T0" fmla="*/ 0 w 1104"/>
                    <a:gd name="T1" fmla="*/ 864 h 864"/>
                    <a:gd name="T2" fmla="*/ 192 w 1104"/>
                    <a:gd name="T3" fmla="*/ 576 h 864"/>
                    <a:gd name="T4" fmla="*/ 336 w 1104"/>
                    <a:gd name="T5" fmla="*/ 384 h 864"/>
                    <a:gd name="T6" fmla="*/ 528 w 1104"/>
                    <a:gd name="T7" fmla="*/ 192 h 864"/>
                    <a:gd name="T8" fmla="*/ 864 w 1104"/>
                    <a:gd name="T9" fmla="*/ 48 h 864"/>
                    <a:gd name="T10" fmla="*/ 1104 w 1104"/>
                    <a:gd name="T11" fmla="*/ 0 h 8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104" h="864">
                      <a:moveTo>
                        <a:pt x="0" y="864"/>
                      </a:moveTo>
                      <a:cubicBezTo>
                        <a:pt x="68" y="760"/>
                        <a:pt x="136" y="656"/>
                        <a:pt x="192" y="576"/>
                      </a:cubicBezTo>
                      <a:cubicBezTo>
                        <a:pt x="248" y="496"/>
                        <a:pt x="280" y="448"/>
                        <a:pt x="336" y="384"/>
                      </a:cubicBezTo>
                      <a:cubicBezTo>
                        <a:pt x="392" y="320"/>
                        <a:pt x="440" y="248"/>
                        <a:pt x="528" y="192"/>
                      </a:cubicBezTo>
                      <a:cubicBezTo>
                        <a:pt x="616" y="136"/>
                        <a:pt x="768" y="80"/>
                        <a:pt x="864" y="48"/>
                      </a:cubicBezTo>
                      <a:cubicBezTo>
                        <a:pt x="960" y="16"/>
                        <a:pt x="1064" y="16"/>
                        <a:pt x="1104" y="0"/>
                      </a:cubicBez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endParaRPr lang="en-US"/>
                </a:p>
              </p:txBody>
            </p:sp>
          </p:grpSp>
          <p:grpSp>
            <p:nvGrpSpPr>
              <p:cNvPr id="8" name="Group 7"/>
              <p:cNvGrpSpPr>
                <a:grpSpLocks/>
              </p:cNvGrpSpPr>
              <p:nvPr/>
            </p:nvGrpSpPr>
            <p:grpSpPr bwMode="auto">
              <a:xfrm flipV="1">
                <a:off x="3120" y="1824"/>
                <a:ext cx="2208" cy="864"/>
                <a:chOff x="912" y="960"/>
                <a:chExt cx="2208" cy="864"/>
              </a:xfrm>
            </p:grpSpPr>
            <p:sp>
              <p:nvSpPr>
                <p:cNvPr id="9" name="Freeform 8"/>
                <p:cNvSpPr>
                  <a:spLocks/>
                </p:cNvSpPr>
                <p:nvPr/>
              </p:nvSpPr>
              <p:spPr bwMode="auto">
                <a:xfrm>
                  <a:off x="912" y="960"/>
                  <a:ext cx="1104" cy="864"/>
                </a:xfrm>
                <a:custGeom>
                  <a:avLst/>
                  <a:gdLst>
                    <a:gd name="T0" fmla="*/ 0 w 1104"/>
                    <a:gd name="T1" fmla="*/ 864 h 864"/>
                    <a:gd name="T2" fmla="*/ 192 w 1104"/>
                    <a:gd name="T3" fmla="*/ 576 h 864"/>
                    <a:gd name="T4" fmla="*/ 336 w 1104"/>
                    <a:gd name="T5" fmla="*/ 384 h 864"/>
                    <a:gd name="T6" fmla="*/ 528 w 1104"/>
                    <a:gd name="T7" fmla="*/ 192 h 864"/>
                    <a:gd name="T8" fmla="*/ 864 w 1104"/>
                    <a:gd name="T9" fmla="*/ 48 h 864"/>
                    <a:gd name="T10" fmla="*/ 1104 w 1104"/>
                    <a:gd name="T11" fmla="*/ 0 h 8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104" h="864">
                      <a:moveTo>
                        <a:pt x="0" y="864"/>
                      </a:moveTo>
                      <a:cubicBezTo>
                        <a:pt x="68" y="760"/>
                        <a:pt x="136" y="656"/>
                        <a:pt x="192" y="576"/>
                      </a:cubicBezTo>
                      <a:cubicBezTo>
                        <a:pt x="248" y="496"/>
                        <a:pt x="280" y="448"/>
                        <a:pt x="336" y="384"/>
                      </a:cubicBezTo>
                      <a:cubicBezTo>
                        <a:pt x="392" y="320"/>
                        <a:pt x="440" y="248"/>
                        <a:pt x="528" y="192"/>
                      </a:cubicBezTo>
                      <a:cubicBezTo>
                        <a:pt x="616" y="136"/>
                        <a:pt x="768" y="80"/>
                        <a:pt x="864" y="48"/>
                      </a:cubicBezTo>
                      <a:cubicBezTo>
                        <a:pt x="960" y="16"/>
                        <a:pt x="1064" y="16"/>
                        <a:pt x="1104" y="0"/>
                      </a:cubicBez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10" name="Freeform 9"/>
                <p:cNvSpPr>
                  <a:spLocks/>
                </p:cNvSpPr>
                <p:nvPr/>
              </p:nvSpPr>
              <p:spPr bwMode="auto">
                <a:xfrm flipH="1">
                  <a:off x="2016" y="960"/>
                  <a:ext cx="1104" cy="864"/>
                </a:xfrm>
                <a:custGeom>
                  <a:avLst/>
                  <a:gdLst>
                    <a:gd name="T0" fmla="*/ 0 w 1104"/>
                    <a:gd name="T1" fmla="*/ 864 h 864"/>
                    <a:gd name="T2" fmla="*/ 192 w 1104"/>
                    <a:gd name="T3" fmla="*/ 576 h 864"/>
                    <a:gd name="T4" fmla="*/ 336 w 1104"/>
                    <a:gd name="T5" fmla="*/ 384 h 864"/>
                    <a:gd name="T6" fmla="*/ 528 w 1104"/>
                    <a:gd name="T7" fmla="*/ 192 h 864"/>
                    <a:gd name="T8" fmla="*/ 864 w 1104"/>
                    <a:gd name="T9" fmla="*/ 48 h 864"/>
                    <a:gd name="T10" fmla="*/ 1104 w 1104"/>
                    <a:gd name="T11" fmla="*/ 0 h 8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104" h="864">
                      <a:moveTo>
                        <a:pt x="0" y="864"/>
                      </a:moveTo>
                      <a:cubicBezTo>
                        <a:pt x="68" y="760"/>
                        <a:pt x="136" y="656"/>
                        <a:pt x="192" y="576"/>
                      </a:cubicBezTo>
                      <a:cubicBezTo>
                        <a:pt x="248" y="496"/>
                        <a:pt x="280" y="448"/>
                        <a:pt x="336" y="384"/>
                      </a:cubicBezTo>
                      <a:cubicBezTo>
                        <a:pt x="392" y="320"/>
                        <a:pt x="440" y="248"/>
                        <a:pt x="528" y="192"/>
                      </a:cubicBezTo>
                      <a:cubicBezTo>
                        <a:pt x="616" y="136"/>
                        <a:pt x="768" y="80"/>
                        <a:pt x="864" y="48"/>
                      </a:cubicBezTo>
                      <a:cubicBezTo>
                        <a:pt x="960" y="16"/>
                        <a:pt x="1064" y="16"/>
                        <a:pt x="1104" y="0"/>
                      </a:cubicBez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endParaRPr lang="en-US"/>
                </a:p>
              </p:txBody>
            </p:sp>
          </p:grpSp>
        </p:grpSp>
      </p:grpSp>
      <p:sp>
        <p:nvSpPr>
          <p:cNvPr id="19" name="Line 37"/>
          <p:cNvSpPr>
            <a:spLocks noChangeShapeType="1"/>
          </p:cNvSpPr>
          <p:nvPr/>
        </p:nvSpPr>
        <p:spPr bwMode="auto">
          <a:xfrm flipV="1">
            <a:off x="2136775" y="1572419"/>
            <a:ext cx="0" cy="3736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endParaRPr lang="en-US" dirty="0">
              <a:effectLst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746375" y="1554247"/>
            <a:ext cx="220662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5760" lvl="0" indent="-256032">
              <a:spcBef>
                <a:spcPts val="400"/>
              </a:spcBef>
              <a:buClr>
                <a:srgbClr val="2DA2BF"/>
              </a:buClr>
              <a:buSzPct val="68000"/>
              <a:buFont typeface="Wingdings 3"/>
              <a:buChar char=""/>
            </a:pPr>
            <a:r>
              <a:rPr lang="en-US" sz="2700" dirty="0">
                <a:solidFill>
                  <a:prstClr val="white"/>
                </a:solidFill>
              </a:rPr>
              <a:t>Period, T</a:t>
            </a:r>
          </a:p>
        </p:txBody>
      </p:sp>
      <p:sp>
        <p:nvSpPr>
          <p:cNvPr id="22" name="Line 35"/>
          <p:cNvSpPr>
            <a:spLocks noChangeShapeType="1"/>
          </p:cNvSpPr>
          <p:nvPr/>
        </p:nvSpPr>
        <p:spPr bwMode="auto">
          <a:xfrm>
            <a:off x="2746375" y="2043907"/>
            <a:ext cx="243205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441575" y="2361962"/>
            <a:ext cx="10636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 smtClean="0">
                <a:solidFill>
                  <a:prstClr val="white"/>
                </a:solidFill>
              </a:rPr>
              <a:t>A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5" name="Line 41"/>
          <p:cNvSpPr>
            <a:spLocks noChangeShapeType="1"/>
          </p:cNvSpPr>
          <p:nvPr/>
        </p:nvSpPr>
        <p:spPr bwMode="auto">
          <a:xfrm flipV="1">
            <a:off x="2667000" y="2069307"/>
            <a:ext cx="0" cy="1347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263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FF00"/>
                </a:solidFill>
              </a:rPr>
              <a:t>Linear</a:t>
            </a:r>
            <a:r>
              <a:rPr lang="en-US" sz="3200" dirty="0" smtClean="0"/>
              <a:t> </a:t>
            </a:r>
            <a:r>
              <a:rPr lang="en-US" sz="3200" dirty="0" smtClean="0"/>
              <a:t>oscillation and </a:t>
            </a:r>
            <a:r>
              <a:rPr lang="en-US" sz="3200" dirty="0">
                <a:solidFill>
                  <a:srgbClr val="FFFF00"/>
                </a:solidFill>
              </a:rPr>
              <a:t>circular</a:t>
            </a:r>
            <a:r>
              <a:rPr lang="en-US" sz="3200" dirty="0"/>
              <a:t> oscillation</a:t>
            </a:r>
            <a:r>
              <a:rPr lang="en-US" sz="3200" dirty="0" smtClean="0"/>
              <a:t>.</a:t>
            </a:r>
          </a:p>
          <a:p>
            <a:pPr marL="624078" indent="-514350">
              <a:buFont typeface="+mj-lt"/>
              <a:buAutoNum type="arabicPeriod"/>
            </a:pPr>
            <a:endParaRPr lang="en-US" dirty="0" smtClean="0"/>
          </a:p>
          <a:p>
            <a:pPr marL="624078" indent="-514350">
              <a:buFont typeface="+mj-lt"/>
              <a:buAutoNum type="arabicPeriod"/>
            </a:pPr>
            <a:endParaRPr lang="en-US" dirty="0"/>
          </a:p>
          <a:p>
            <a:pPr marL="109728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Types of oscillatory motion: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865243"/>
            <a:ext cx="2057400" cy="2325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743" y="1828800"/>
            <a:ext cx="2394857" cy="2382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8089" y="1981200"/>
            <a:ext cx="2604911" cy="2220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8415" y="4624389"/>
            <a:ext cx="2973559" cy="2157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 descr="C:\Users\user\Desktop\old-grandfather-clock-animated-gif-7.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7" y="4400550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8511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6248400"/>
          </a:xfrm>
        </p:spPr>
        <p:txBody>
          <a:bodyPr>
            <a:noAutofit/>
          </a:bodyPr>
          <a:lstStyle/>
          <a:p>
            <a:pPr marL="109728" indent="0">
              <a:buNone/>
            </a:pPr>
            <a:r>
              <a:rPr lang="en-US" sz="3200" dirty="0" smtClean="0"/>
              <a:t>Oscillatory </a:t>
            </a:r>
            <a:r>
              <a:rPr lang="en-US" sz="3200" dirty="0"/>
              <a:t>systems are of two types,</a:t>
            </a:r>
            <a:br>
              <a:rPr lang="en-US" sz="3200" dirty="0"/>
            </a:br>
            <a:r>
              <a:rPr lang="en-US" sz="3200" dirty="0"/>
              <a:t>mechanical and non- mechanical </a:t>
            </a:r>
            <a:r>
              <a:rPr lang="en-US" sz="3200" dirty="0" smtClean="0"/>
              <a:t>systems</a:t>
            </a:r>
          </a:p>
          <a:p>
            <a:pPr marL="109728" indent="0">
              <a:buNone/>
            </a:pPr>
            <a:endParaRPr lang="en-US" sz="3200" dirty="0" smtClean="0"/>
          </a:p>
          <a:p>
            <a:pPr marL="109728" indent="0">
              <a:buNone/>
            </a:pPr>
            <a:r>
              <a:rPr lang="en-US" sz="3200" b="1" u="sng" dirty="0" smtClean="0">
                <a:solidFill>
                  <a:srgbClr val="FFFF00"/>
                </a:solidFill>
              </a:rPr>
              <a:t>MECHANICAL</a:t>
            </a:r>
          </a:p>
          <a:p>
            <a:r>
              <a:rPr lang="en-US" sz="3200" dirty="0" smtClean="0"/>
              <a:t>two </a:t>
            </a:r>
            <a:r>
              <a:rPr lang="en-US" sz="3200" dirty="0"/>
              <a:t>things </a:t>
            </a:r>
            <a:r>
              <a:rPr lang="en-US" sz="3200" dirty="0" smtClean="0"/>
              <a:t>are specially </a:t>
            </a:r>
            <a:r>
              <a:rPr lang="en-US" sz="3200" dirty="0"/>
              <a:t>responsible </a:t>
            </a:r>
            <a:r>
              <a:rPr lang="en-US" sz="3200" dirty="0" err="1"/>
              <a:t>i.e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FFFF00"/>
                </a:solidFill>
              </a:rPr>
              <a:t>Inertia</a:t>
            </a:r>
            <a:r>
              <a:rPr lang="en-US" sz="3200" dirty="0"/>
              <a:t> </a:t>
            </a:r>
            <a:r>
              <a:rPr lang="en-US" sz="3200" dirty="0" smtClean="0"/>
              <a:t>&amp; </a:t>
            </a:r>
            <a:r>
              <a:rPr lang="en-US" sz="3200" dirty="0" smtClean="0">
                <a:solidFill>
                  <a:srgbClr val="FFFF00"/>
                </a:solidFill>
              </a:rPr>
              <a:t>Restoring </a:t>
            </a:r>
            <a:r>
              <a:rPr lang="en-US" sz="3200" dirty="0">
                <a:solidFill>
                  <a:srgbClr val="FFFF00"/>
                </a:solidFill>
              </a:rPr>
              <a:t>force</a:t>
            </a:r>
            <a:r>
              <a:rPr lang="en-US" sz="3200" dirty="0"/>
              <a:t>. </a:t>
            </a:r>
            <a:endParaRPr lang="en-US" sz="3200" dirty="0" smtClean="0"/>
          </a:p>
          <a:p>
            <a:endParaRPr lang="en-US" sz="3200" dirty="0" smtClean="0"/>
          </a:p>
          <a:p>
            <a:pPr marL="109728" indent="0">
              <a:buNone/>
            </a:pPr>
            <a:r>
              <a:rPr lang="en-US" sz="3200" b="1" u="sng" dirty="0" smtClean="0">
                <a:solidFill>
                  <a:srgbClr val="FFFF00"/>
                </a:solidFill>
              </a:rPr>
              <a:t>NON- MECHANICAL</a:t>
            </a:r>
          </a:p>
          <a:p>
            <a:r>
              <a:rPr lang="en-US" sz="3200" dirty="0" smtClean="0"/>
              <a:t>The body </a:t>
            </a:r>
            <a:r>
              <a:rPr lang="en-US" sz="3200" dirty="0"/>
              <a:t>itself </a:t>
            </a:r>
            <a:r>
              <a:rPr lang="en-US" sz="3200" dirty="0" smtClean="0"/>
              <a:t>doesn't </a:t>
            </a:r>
            <a:r>
              <a:rPr lang="en-US" sz="3200" dirty="0"/>
              <a:t>change its</a:t>
            </a:r>
          </a:p>
          <a:p>
            <a:pPr marL="109728" indent="0">
              <a:buNone/>
            </a:pPr>
            <a:r>
              <a:rPr lang="en-US" sz="3200" dirty="0"/>
              <a:t>position but its physical property varies periodically.</a:t>
            </a:r>
            <a:endParaRPr lang="en-US" sz="3200" dirty="0" smtClean="0"/>
          </a:p>
          <a:p>
            <a:pPr marL="109728" indent="0">
              <a:buNone/>
            </a:pPr>
            <a:endParaRPr lang="en-US" sz="3200" dirty="0" smtClean="0"/>
          </a:p>
          <a:p>
            <a:endParaRPr lang="en-US" sz="3200" dirty="0" smtClean="0"/>
          </a:p>
          <a:p>
            <a:endParaRPr lang="en-US" sz="3200" dirty="0" smtClean="0"/>
          </a:p>
          <a:p>
            <a:pPr marL="109728" indent="0">
              <a:buNone/>
            </a:pPr>
            <a:r>
              <a:rPr lang="en-US" sz="3200" dirty="0"/>
              <a:t/>
            </a: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475645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066800"/>
                <a:ext cx="8991600" cy="5638800"/>
              </a:xfrm>
            </p:spPr>
            <p:txBody>
              <a:bodyPr>
                <a:noAutofit/>
              </a:bodyPr>
              <a:lstStyle/>
              <a:p>
                <a:r>
                  <a:rPr lang="en-US" sz="2800" dirty="0"/>
                  <a:t>A special kind of periodic motion </a:t>
                </a:r>
                <a:endParaRPr lang="en-US" sz="2800" dirty="0" smtClean="0"/>
              </a:p>
              <a:p>
                <a:r>
                  <a:rPr lang="en-US" sz="2800" dirty="0" smtClean="0"/>
                  <a:t>SHM - i</a:t>
                </a:r>
                <a:r>
                  <a:rPr lang="en-US" sz="2800" dirty="0" smtClean="0"/>
                  <a:t>f </a:t>
                </a:r>
                <a:r>
                  <a:rPr lang="en-US" sz="2800" dirty="0"/>
                  <a:t>the force is always directed toward the equilibrium </a:t>
                </a:r>
                <a:r>
                  <a:rPr lang="en-US" sz="2800" dirty="0" smtClean="0"/>
                  <a:t>position</a:t>
                </a:r>
              </a:p>
              <a:p>
                <a:pPr fontAlgn="base"/>
                <a:r>
                  <a:rPr lang="en-US" sz="2800" dirty="0" smtClean="0"/>
                  <a:t>The net force is </a:t>
                </a:r>
                <a:r>
                  <a:rPr lang="en-US" sz="2800" dirty="0" smtClean="0"/>
                  <a:t>proportional and opposite  </a:t>
                </a:r>
                <a:r>
                  <a:rPr lang="en-US" sz="2800" dirty="0" smtClean="0"/>
                  <a:t>to displacement</a:t>
                </a:r>
              </a:p>
              <a:p>
                <a:pPr fontAlgn="base"/>
                <a:r>
                  <a:rPr kumimoji="1" lang="en-US" sz="2800" dirty="0"/>
                  <a:t>An oscillating system which can be described in </a:t>
                </a:r>
                <a:r>
                  <a:rPr kumimoji="1" lang="en-US" sz="2800" dirty="0" smtClean="0"/>
                  <a:t>terms </a:t>
                </a:r>
                <a:r>
                  <a:rPr kumimoji="1" lang="en-US" sz="2800" dirty="0"/>
                  <a:t>of </a:t>
                </a:r>
                <a:r>
                  <a:rPr kumimoji="1" lang="en-US" sz="2800" dirty="0">
                    <a:solidFill>
                      <a:srgbClr val="FFFF00"/>
                    </a:solidFill>
                    <a:effectLst>
                      <a:outerShdw blurRad="38100" dist="38100" dir="2700000" algn="tl" rotWithShape="0">
                        <a:srgbClr val="C0C0C0"/>
                      </a:outerShdw>
                    </a:effectLst>
                  </a:rPr>
                  <a:t>sine</a:t>
                </a:r>
                <a:r>
                  <a:rPr kumimoji="1" lang="en-US" sz="2800" dirty="0">
                    <a:effectLst>
                      <a:outerShdw blurRad="38100" dist="38100" dir="2700000" algn="tl" rotWithShape="0">
                        <a:srgbClr val="C0C0C0"/>
                      </a:outerShdw>
                    </a:effectLst>
                  </a:rPr>
                  <a:t> and </a:t>
                </a:r>
                <a:r>
                  <a:rPr kumimoji="1" lang="en-US" sz="2800" dirty="0">
                    <a:solidFill>
                      <a:srgbClr val="FFFF00"/>
                    </a:solidFill>
                    <a:effectLst>
                      <a:outerShdw blurRad="38100" dist="38100" dir="2700000" algn="tl" rotWithShape="0">
                        <a:srgbClr val="C0C0C0"/>
                      </a:outerShdw>
                    </a:effectLst>
                  </a:rPr>
                  <a:t>cosine</a:t>
                </a:r>
                <a:r>
                  <a:rPr kumimoji="1" lang="en-US" sz="2800" dirty="0">
                    <a:effectLst>
                      <a:outerShdw blurRad="38100" dist="38100" dir="2700000" algn="tl" rotWithShape="0">
                        <a:srgbClr val="C0C0C0"/>
                      </a:outerShdw>
                    </a:effectLst>
                  </a:rPr>
                  <a:t> functions</a:t>
                </a:r>
                <a:r>
                  <a:rPr kumimoji="1" lang="en-US" sz="2800" dirty="0"/>
                  <a:t> </a:t>
                </a:r>
                <a:endParaRPr kumimoji="1" lang="en-US" sz="2800" dirty="0" smtClean="0"/>
              </a:p>
              <a:p>
                <a:pPr marL="109728" indent="0">
                  <a:buNone/>
                </a:pPr>
                <a:r>
                  <a:rPr lang="en-US" sz="2800" i="1" dirty="0" smtClean="0"/>
                  <a:t>                                                   T </a:t>
                </a:r>
                <a:r>
                  <a:rPr lang="en-US" sz="2800" dirty="0" smtClean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 dirty="0">
                            <a:latin typeface="Cambria Math"/>
                          </a:rPr>
                          <m:t>2</m:t>
                        </m:r>
                        <m:r>
                          <a:rPr lang="el-GR" sz="2800" i="1" dirty="0">
                            <a:latin typeface="Cambria Math"/>
                          </a:rPr>
                          <m:t>𝜋</m:t>
                        </m:r>
                      </m:num>
                      <m:den>
                        <m:r>
                          <m:rPr>
                            <m:nor/>
                          </m:rPr>
                          <a:rPr lang="el-GR" sz="2800" dirty="0"/>
                          <m:t>ω</m:t>
                        </m:r>
                      </m:den>
                    </m:f>
                  </m:oMath>
                </a14:m>
                <a:endParaRPr lang="en-US" sz="2800" dirty="0" smtClean="0"/>
              </a:p>
              <a:p>
                <a:pPr fontAlgn="base">
                  <a:buFont typeface="Wingdings" pitchFamily="2" charset="2"/>
                  <a:buChar char="§"/>
                </a:pPr>
                <a:r>
                  <a:rPr lang="en-US" sz="2800" dirty="0" smtClean="0">
                    <a:solidFill>
                      <a:srgbClr val="FFFF00"/>
                    </a:solidFill>
                  </a:rPr>
                  <a:t>Example</a:t>
                </a:r>
                <a:r>
                  <a:rPr lang="en-US" sz="2800" dirty="0" smtClean="0"/>
                  <a:t>  </a:t>
                </a:r>
                <a:endParaRPr lang="en-US" sz="2800" dirty="0"/>
              </a:p>
              <a:p>
                <a:pPr fontAlgn="base"/>
                <a:r>
                  <a:rPr lang="en-US" sz="2800" dirty="0"/>
                  <a:t>The motion of a spring-mass </a:t>
                </a:r>
                <a:r>
                  <a:rPr lang="en-US" sz="2800" dirty="0" smtClean="0"/>
                  <a:t>system</a:t>
                </a:r>
              </a:p>
              <a:p>
                <a:pPr fontAlgn="base"/>
                <a:r>
                  <a:rPr lang="en-US" sz="2800" dirty="0" smtClean="0"/>
                  <a:t>The motion of simple pendulum (</a:t>
                </a:r>
                <a:r>
                  <a:rPr lang="en-US" altLang="en-US" sz="2800" kern="0" dirty="0"/>
                  <a:t>for small </a:t>
                </a:r>
                <a:r>
                  <a:rPr lang="en-US" altLang="en-US" sz="2800" kern="0" dirty="0" smtClean="0"/>
                  <a:t>displacement)</a:t>
                </a:r>
                <a:endParaRPr lang="en-US" sz="2800" dirty="0" smtClean="0"/>
              </a:p>
              <a:p>
                <a:pPr fontAlgn="base"/>
                <a:endParaRPr lang="en-US" sz="2800" dirty="0" smtClean="0"/>
              </a:p>
              <a:p>
                <a:pPr fontAlgn="base"/>
                <a:endParaRPr lang="en-US" sz="2800" dirty="0"/>
              </a:p>
            </p:txBody>
          </p:sp>
        </mc:Choice>
        <mc:Fallback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066800"/>
                <a:ext cx="8991600" cy="5638800"/>
              </a:xfrm>
              <a:blipFill>
                <a:blip r:embed="rId2"/>
                <a:stretch>
                  <a:fillRect t="-973" r="-2169" b="-5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53340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Simple Harmonic Motion</a:t>
            </a:r>
          </a:p>
        </p:txBody>
      </p:sp>
    </p:spTree>
    <p:extLst>
      <p:ext uri="{BB962C8B-B14F-4D97-AF65-F5344CB8AC3E}">
        <p14:creationId xmlns:p14="http://schemas.microsoft.com/office/powerpoint/2010/main" val="3952322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219200"/>
            <a:ext cx="39624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Spring-mass </a:t>
            </a:r>
            <a:r>
              <a:rPr lang="en-US" dirty="0"/>
              <a:t>system</a:t>
            </a:r>
            <a:br>
              <a:rPr lang="en-US" dirty="0"/>
            </a:b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446337"/>
            <a:ext cx="2245072" cy="60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 descr="Eqn16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114800"/>
            <a:ext cx="2561999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283169"/>
            <a:ext cx="3055727" cy="75543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/>
        </p:spPr>
      </p:pic>
      <p:sp>
        <p:nvSpPr>
          <p:cNvPr id="9" name="Rectangle 8"/>
          <p:cNvSpPr/>
          <p:nvPr/>
        </p:nvSpPr>
        <p:spPr>
          <a:xfrm>
            <a:off x="914400" y="1600200"/>
            <a:ext cx="37324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buFont typeface="Arial" pitchFamily="34" charset="0"/>
              <a:buChar char="•"/>
            </a:pPr>
            <a:r>
              <a:rPr lang="en-US" sz="3200" dirty="0"/>
              <a:t>obeys Hooke’s Law</a:t>
            </a:r>
          </a:p>
        </p:txBody>
      </p:sp>
    </p:spTree>
    <p:extLst>
      <p:ext uri="{BB962C8B-B14F-4D97-AF65-F5344CB8AC3E}">
        <p14:creationId xmlns:p14="http://schemas.microsoft.com/office/powerpoint/2010/main" val="2661055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016691"/>
          </a:xfrm>
        </p:spPr>
        <p:txBody>
          <a:bodyPr>
            <a:normAutofit/>
          </a:bodyPr>
          <a:lstStyle/>
          <a:p>
            <a:r>
              <a:rPr lang="en-US" dirty="0"/>
              <a:t>In general, the motion of a </a:t>
            </a:r>
            <a:r>
              <a:rPr lang="en-US" dirty="0" smtClean="0"/>
              <a:t>pendulum is </a:t>
            </a:r>
            <a:r>
              <a:rPr lang="en-US" dirty="0"/>
              <a:t>not </a:t>
            </a:r>
            <a:r>
              <a:rPr lang="en-US" dirty="0" smtClean="0"/>
              <a:t>SHM </a:t>
            </a:r>
            <a:r>
              <a:rPr lang="en-US" dirty="0" smtClean="0"/>
              <a:t>However</a:t>
            </a:r>
            <a:r>
              <a:rPr lang="en-US" dirty="0"/>
              <a:t>, for small </a:t>
            </a:r>
            <a:r>
              <a:rPr lang="en-US" dirty="0" smtClean="0"/>
              <a:t>angles (&lt; </a:t>
            </a:r>
            <a:r>
              <a:rPr lang="en-US" dirty="0"/>
              <a:t>10</a:t>
            </a:r>
            <a:r>
              <a:rPr lang="en-US" dirty="0" smtClean="0"/>
              <a:t>°), it </a:t>
            </a:r>
            <a:r>
              <a:rPr lang="en-US" dirty="0"/>
              <a:t>becomes </a:t>
            </a:r>
            <a:r>
              <a:rPr lang="en-US" dirty="0" smtClean="0"/>
              <a:t>SHM</a:t>
            </a:r>
            <a:endParaRPr lang="en-US" dirty="0" smtClean="0"/>
          </a:p>
          <a:p>
            <a:pPr marL="109728" indent="0">
              <a:buNone/>
            </a:pPr>
            <a:r>
              <a:rPr lang="en-US" dirty="0" smtClean="0"/>
              <a:t> sin </a:t>
            </a:r>
            <a:r>
              <a:rPr lang="en-US" dirty="0"/>
              <a:t>θ ≈ </a:t>
            </a:r>
            <a:r>
              <a:rPr lang="en-US" dirty="0" smtClean="0"/>
              <a:t>θ           F</a:t>
            </a:r>
            <a:r>
              <a:rPr lang="en-US" baseline="-25000" dirty="0" smtClean="0"/>
              <a:t>t</a:t>
            </a:r>
            <a:r>
              <a:rPr lang="en-US" dirty="0" smtClean="0"/>
              <a:t> </a:t>
            </a:r>
            <a:r>
              <a:rPr lang="en-US" dirty="0"/>
              <a:t>= - mg sin θ</a:t>
            </a:r>
            <a:r>
              <a:rPr lang="en-US" dirty="0" smtClean="0"/>
              <a:t> = </a:t>
            </a:r>
            <a:r>
              <a:rPr lang="en-US" dirty="0"/>
              <a:t>- mg θ</a:t>
            </a:r>
          </a:p>
          <a:p>
            <a:r>
              <a:rPr lang="en-US" dirty="0" smtClean="0"/>
              <a:t>obeys </a:t>
            </a:r>
            <a:r>
              <a:rPr lang="en-US" dirty="0"/>
              <a:t>Hooke’s </a:t>
            </a:r>
            <a:r>
              <a:rPr lang="en-US" dirty="0" smtClean="0"/>
              <a:t>Law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Simple Pendulum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895427"/>
            <a:ext cx="3814763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558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014728"/>
            <a:ext cx="8215745" cy="4614672"/>
          </a:xfrm>
        </p:spPr>
        <p:txBody>
          <a:bodyPr>
            <a:normAutofit/>
          </a:bodyPr>
          <a:lstStyle/>
          <a:p>
            <a:r>
              <a:rPr lang="en-US" sz="3200" dirty="0"/>
              <a:t>This shows that the period is </a:t>
            </a:r>
            <a:r>
              <a:rPr lang="en-US" sz="3200" dirty="0" smtClean="0"/>
              <a:t>independent </a:t>
            </a:r>
            <a:r>
              <a:rPr lang="en-US" sz="3200" dirty="0"/>
              <a:t>of the amplitude A </a:t>
            </a:r>
            <a:r>
              <a:rPr lang="en-US" sz="3200" dirty="0" smtClean="0"/>
              <a:t>and </a:t>
            </a:r>
            <a:r>
              <a:rPr lang="en-US" sz="3200" dirty="0"/>
              <a:t>the mass m</a:t>
            </a:r>
          </a:p>
          <a:p>
            <a:pPr>
              <a:buFont typeface="Wingdings" pitchFamily="2" charset="2"/>
              <a:buChar char="v"/>
            </a:pPr>
            <a:r>
              <a:rPr lang="en-US" sz="3200" dirty="0"/>
              <a:t>The period depends on:</a:t>
            </a:r>
            <a:br>
              <a:rPr lang="en-US" sz="3200" dirty="0"/>
            </a:br>
            <a:r>
              <a:rPr lang="en-US" sz="3200" dirty="0"/>
              <a:t>  the </a:t>
            </a:r>
            <a:r>
              <a:rPr lang="en-US" sz="3200" dirty="0">
                <a:solidFill>
                  <a:srgbClr val="FFFF00"/>
                </a:solidFill>
              </a:rPr>
              <a:t>length</a:t>
            </a:r>
            <a:r>
              <a:rPr lang="en-US" sz="3200" dirty="0"/>
              <a:t> of the </a:t>
            </a:r>
            <a:r>
              <a:rPr lang="en-US" sz="3200" dirty="0" smtClean="0">
                <a:solidFill>
                  <a:srgbClr val="FFFF00"/>
                </a:solidFill>
              </a:rPr>
              <a:t>pendulum, </a:t>
            </a:r>
            <a:r>
              <a:rPr lang="en-US" sz="3200" dirty="0">
                <a:solidFill>
                  <a:srgbClr val="FFFF00"/>
                </a:solidFill>
              </a:rPr>
              <a:t>L 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/>
              <a:t>  and the </a:t>
            </a:r>
            <a:r>
              <a:rPr lang="en-US" sz="3200" dirty="0" smtClean="0">
                <a:solidFill>
                  <a:srgbClr val="FFFF00"/>
                </a:solidFill>
              </a:rPr>
              <a:t>freefall acceleration,</a:t>
            </a:r>
            <a:r>
              <a:rPr lang="en-US" sz="3200" dirty="0" smtClean="0"/>
              <a:t> </a:t>
            </a:r>
            <a:r>
              <a:rPr lang="en-US" sz="3200" dirty="0"/>
              <a:t>g</a:t>
            </a:r>
          </a:p>
          <a:p>
            <a:r>
              <a:rPr lang="en-US" sz="3200" dirty="0">
                <a:solidFill>
                  <a:srgbClr val="FFFF00"/>
                </a:solidFill>
              </a:rPr>
              <a:t>VERY IMPORTANT</a:t>
            </a:r>
            <a:r>
              <a:rPr lang="en-US" sz="3200" dirty="0"/>
              <a:t>: frequency and period of </a:t>
            </a:r>
            <a:r>
              <a:rPr lang="en-US" sz="3200" dirty="0" smtClean="0"/>
              <a:t>oscillations </a:t>
            </a:r>
            <a:r>
              <a:rPr lang="en-US" sz="3200" b="1" u="sng" dirty="0" smtClean="0"/>
              <a:t>DO </a:t>
            </a:r>
            <a:r>
              <a:rPr lang="en-US" sz="3200" b="1" u="sng" dirty="0"/>
              <a:t>NOT </a:t>
            </a:r>
            <a:r>
              <a:rPr lang="en-US" sz="3200" dirty="0"/>
              <a:t>depend on the amplitude</a:t>
            </a:r>
          </a:p>
        </p:txBody>
      </p:sp>
      <p:pic>
        <p:nvPicPr>
          <p:cNvPr id="4" name="Picture 2" descr="http://motivate.maths.org/conferences/conf86/Images/pendulum-formula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319" y="561975"/>
            <a:ext cx="2868881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5922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Where </a:t>
            </a:r>
            <a:r>
              <a:rPr lang="en-US" sz="3200" dirty="0"/>
              <a:t>is the mass moving fastest, slowest?</a:t>
            </a:r>
          </a:p>
          <a:p>
            <a:r>
              <a:rPr lang="en-US" sz="3200" dirty="0"/>
              <a:t>Where is the mass’s acceleration maximum, zero?</a:t>
            </a:r>
          </a:p>
          <a:p>
            <a:r>
              <a:rPr lang="en-US" sz="3200" dirty="0" smtClean="0"/>
              <a:t>What </a:t>
            </a:r>
            <a:r>
              <a:rPr lang="en-US" sz="3200" dirty="0"/>
              <a:t>forces act on the mass? When is the unbalanced force at a maximum value, zero?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Discuss, in pairs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29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4800600" cy="4876800"/>
          </a:xfrm>
        </p:spPr>
        <p:txBody>
          <a:bodyPr/>
          <a:lstStyle/>
          <a:p>
            <a:r>
              <a:rPr lang="en-US" altLang="en-US" dirty="0" smtClean="0"/>
              <a:t>Motion starts from equilibrium </a:t>
            </a:r>
          </a:p>
          <a:p>
            <a:r>
              <a:rPr lang="en-US" altLang="en-US" dirty="0" smtClean="0"/>
              <a:t>Displacement </a:t>
            </a:r>
            <a:r>
              <a:rPr lang="en-US" altLang="en-US" dirty="0"/>
              <a:t>against time </a:t>
            </a:r>
          </a:p>
          <a:p>
            <a:pPr marL="109728" indent="0">
              <a:buNone/>
            </a:pPr>
            <a:r>
              <a:rPr lang="en-US" altLang="en-US" dirty="0" smtClean="0"/>
              <a:t> </a:t>
            </a:r>
            <a:r>
              <a:rPr lang="en-US" altLang="en-US" sz="3200" i="1" dirty="0" smtClean="0">
                <a:solidFill>
                  <a:srgbClr val="FFFF00"/>
                </a:solidFill>
              </a:rPr>
              <a:t>x(t) </a:t>
            </a:r>
            <a:r>
              <a:rPr lang="en-US" altLang="en-US" sz="3200" i="1" dirty="0">
                <a:solidFill>
                  <a:srgbClr val="FFFF00"/>
                </a:solidFill>
              </a:rPr>
              <a:t>= </a:t>
            </a:r>
            <a:r>
              <a:rPr lang="en-US" altLang="en-US" sz="3200" i="1" dirty="0" smtClean="0">
                <a:solidFill>
                  <a:srgbClr val="FFFF00"/>
                </a:solidFill>
              </a:rPr>
              <a:t>A sin(</a:t>
            </a:r>
            <a:r>
              <a:rPr lang="en-US" altLang="en-US" sz="3200" i="1" dirty="0" err="1" smtClean="0">
                <a:solidFill>
                  <a:srgbClr val="FFFF00"/>
                </a:solidFill>
                <a:latin typeface="Symbol" pitchFamily="18" charset="2"/>
              </a:rPr>
              <a:t>w</a:t>
            </a:r>
            <a:r>
              <a:rPr lang="en-US" altLang="en-US" sz="3200" i="1" dirty="0" err="1" smtClean="0">
                <a:solidFill>
                  <a:srgbClr val="FFFF00"/>
                </a:solidFill>
              </a:rPr>
              <a:t>t</a:t>
            </a:r>
            <a:r>
              <a:rPr lang="en-US" altLang="en-US" sz="3200" i="1" dirty="0" smtClean="0">
                <a:solidFill>
                  <a:srgbClr val="FFFF00"/>
                </a:solidFill>
              </a:rPr>
              <a:t>)</a:t>
            </a:r>
            <a:endParaRPr lang="en-US" altLang="en-US" sz="3200" i="1" dirty="0" smtClean="0">
              <a:solidFill>
                <a:srgbClr val="FFFF00"/>
              </a:solidFill>
            </a:endParaRPr>
          </a:p>
          <a:p>
            <a:pPr marL="109728" indent="0">
              <a:buNone/>
            </a:pPr>
            <a:endParaRPr lang="en-US" altLang="en-US" dirty="0" smtClean="0"/>
          </a:p>
          <a:p>
            <a:r>
              <a:rPr lang="en-US" altLang="en-US" dirty="0"/>
              <a:t>Motion starts from </a:t>
            </a:r>
            <a:r>
              <a:rPr lang="en-US" altLang="en-US" dirty="0" smtClean="0"/>
              <a:t>the limit of the oscillation </a:t>
            </a:r>
          </a:p>
          <a:p>
            <a:r>
              <a:rPr lang="en-US" altLang="en-US" dirty="0"/>
              <a:t>Displacement against time </a:t>
            </a:r>
          </a:p>
          <a:p>
            <a:pPr marL="109728" indent="0">
              <a:buNone/>
            </a:pPr>
            <a:r>
              <a:rPr lang="en-US" altLang="en-US" sz="3200" i="1" dirty="0">
                <a:solidFill>
                  <a:srgbClr val="FFFF00"/>
                </a:solidFill>
              </a:rPr>
              <a:t> </a:t>
            </a:r>
            <a:r>
              <a:rPr lang="en-US" altLang="en-US" sz="3200" i="1" dirty="0" smtClean="0">
                <a:solidFill>
                  <a:srgbClr val="FFFF00"/>
                </a:solidFill>
              </a:rPr>
              <a:t>x(t) </a:t>
            </a:r>
            <a:r>
              <a:rPr lang="en-US" altLang="en-US" sz="3200" i="1" dirty="0">
                <a:solidFill>
                  <a:srgbClr val="FFFF00"/>
                </a:solidFill>
              </a:rPr>
              <a:t>= </a:t>
            </a:r>
            <a:r>
              <a:rPr lang="en-US" altLang="en-US" sz="3200" i="1" dirty="0" smtClean="0">
                <a:solidFill>
                  <a:srgbClr val="FFFF00"/>
                </a:solidFill>
              </a:rPr>
              <a:t>A cos(</a:t>
            </a:r>
            <a:r>
              <a:rPr lang="en-US" altLang="en-US" sz="3200" i="1" dirty="0" err="1" smtClean="0">
                <a:solidFill>
                  <a:srgbClr val="FFFF00"/>
                </a:solidFill>
                <a:latin typeface="Symbol" pitchFamily="18" charset="2"/>
              </a:rPr>
              <a:t>w</a:t>
            </a:r>
            <a:r>
              <a:rPr lang="en-US" altLang="en-US" sz="3200" i="1" dirty="0" err="1" smtClean="0">
                <a:solidFill>
                  <a:srgbClr val="FFFF00"/>
                </a:solidFill>
              </a:rPr>
              <a:t>t</a:t>
            </a:r>
            <a:r>
              <a:rPr lang="en-US" altLang="en-US" sz="3200" i="1" dirty="0" smtClean="0">
                <a:solidFill>
                  <a:srgbClr val="FFFF00"/>
                </a:solidFill>
              </a:rPr>
              <a:t>)</a:t>
            </a:r>
            <a:endParaRPr lang="en-US" altLang="en-US" sz="3200" i="1" dirty="0">
              <a:solidFill>
                <a:srgbClr val="FFFF00"/>
              </a:solidFill>
            </a:endParaRPr>
          </a:p>
          <a:p>
            <a:endParaRPr lang="en-US" altLang="en-US" dirty="0" smtClean="0"/>
          </a:p>
          <a:p>
            <a:pPr marL="109728" indent="0">
              <a:buNone/>
            </a:pPr>
            <a:endParaRPr lang="en-US" altLang="en-US" dirty="0"/>
          </a:p>
          <a:p>
            <a:pPr marL="109728" indent="0">
              <a:buNone/>
            </a:pPr>
            <a:endParaRPr lang="en-US" altLang="en-US" dirty="0" smtClean="0"/>
          </a:p>
          <a:p>
            <a:pPr marL="109728" indent="0">
              <a:buNone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Displacement</a:t>
            </a:r>
            <a:r>
              <a:rPr lang="en-US" dirty="0"/>
              <a:t> </a:t>
            </a:r>
            <a:r>
              <a:rPr lang="en-US" dirty="0" smtClean="0"/>
              <a:t>in SHM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0147" y="609600"/>
            <a:ext cx="41910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001" y="3200400"/>
            <a:ext cx="4240576" cy="262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2727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481328"/>
            <a:ext cx="4648200" cy="5376672"/>
          </a:xfrm>
        </p:spPr>
        <p:txBody>
          <a:bodyPr>
            <a:normAutofit/>
          </a:bodyPr>
          <a:lstStyle/>
          <a:p>
            <a:r>
              <a:rPr lang="en-US" altLang="en-US" dirty="0"/>
              <a:t>Motion starts from equilibrium </a:t>
            </a:r>
            <a:endParaRPr lang="en-US" altLang="en-US" dirty="0" smtClean="0"/>
          </a:p>
          <a:p>
            <a:r>
              <a:rPr lang="en-US" i="1" dirty="0"/>
              <a:t>Maximum velocity </a:t>
            </a:r>
            <a:r>
              <a:rPr lang="en-US" dirty="0"/>
              <a:t>occurs at equilibrium position</a:t>
            </a:r>
            <a:endParaRPr lang="en-US" altLang="en-US" dirty="0" smtClean="0"/>
          </a:p>
          <a:p>
            <a:r>
              <a:rPr lang="en-US" dirty="0"/>
              <a:t>Velocity </a:t>
            </a:r>
            <a:r>
              <a:rPr lang="en-US" altLang="en-US" dirty="0" smtClean="0"/>
              <a:t>against </a:t>
            </a:r>
            <a:r>
              <a:rPr lang="en-US" altLang="en-US" dirty="0"/>
              <a:t>time </a:t>
            </a:r>
          </a:p>
          <a:p>
            <a:pPr marL="109728" indent="0">
              <a:buNone/>
            </a:pPr>
            <a:r>
              <a:rPr lang="en-US" altLang="en-US" sz="3200" i="1" dirty="0" smtClean="0">
                <a:solidFill>
                  <a:srgbClr val="FFFF00"/>
                </a:solidFill>
              </a:rPr>
              <a:t>     V(t</a:t>
            </a:r>
            <a:r>
              <a:rPr lang="en-US" altLang="en-US" sz="3200" i="1" dirty="0" smtClean="0">
                <a:solidFill>
                  <a:srgbClr val="FFFF00"/>
                </a:solidFill>
              </a:rPr>
              <a:t>)= </a:t>
            </a:r>
            <a:r>
              <a:rPr lang="en-US" altLang="en-US" sz="3200" i="1" dirty="0" err="1" smtClean="0">
                <a:solidFill>
                  <a:srgbClr val="FFFF00"/>
                </a:solidFill>
                <a:latin typeface="Symbol" pitchFamily="18" charset="2"/>
              </a:rPr>
              <a:t>wA</a:t>
            </a:r>
            <a:r>
              <a:rPr lang="en-US" altLang="en-US" sz="3200" i="1" dirty="0" smtClean="0">
                <a:solidFill>
                  <a:srgbClr val="FFFF00"/>
                </a:solidFill>
              </a:rPr>
              <a:t> </a:t>
            </a:r>
            <a:r>
              <a:rPr lang="en-US" altLang="en-US" sz="3200" i="1" dirty="0" smtClean="0">
                <a:solidFill>
                  <a:srgbClr val="FFFF00"/>
                </a:solidFill>
              </a:rPr>
              <a:t>cos(</a:t>
            </a:r>
            <a:r>
              <a:rPr lang="en-US" altLang="en-US" sz="3200" i="1" dirty="0" err="1" smtClean="0">
                <a:solidFill>
                  <a:srgbClr val="FFFF00"/>
                </a:solidFill>
                <a:latin typeface="Symbol" pitchFamily="18" charset="2"/>
              </a:rPr>
              <a:t>w</a:t>
            </a:r>
            <a:r>
              <a:rPr lang="en-US" altLang="en-US" sz="3200" i="1" dirty="0" err="1" smtClean="0">
                <a:solidFill>
                  <a:srgbClr val="FFFF00"/>
                </a:solidFill>
              </a:rPr>
              <a:t>t</a:t>
            </a:r>
            <a:r>
              <a:rPr lang="en-US" altLang="en-US" sz="3200" i="1" dirty="0" smtClean="0">
                <a:solidFill>
                  <a:srgbClr val="FFFF00"/>
                </a:solidFill>
              </a:rPr>
              <a:t>)</a:t>
            </a:r>
          </a:p>
          <a:p>
            <a:pPr marL="109728" indent="0">
              <a:buNone/>
            </a:pPr>
            <a:endParaRPr lang="en-US" altLang="en-US" sz="3200" i="1" dirty="0" smtClean="0">
              <a:solidFill>
                <a:srgbClr val="FFFF00"/>
              </a:solidFill>
            </a:endParaRPr>
          </a:p>
          <a:p>
            <a:r>
              <a:rPr lang="en-US" altLang="en-US" dirty="0" smtClean="0"/>
              <a:t>Motion </a:t>
            </a:r>
            <a:r>
              <a:rPr lang="en-US" altLang="en-US" dirty="0"/>
              <a:t>starts from the limit of the oscillation </a:t>
            </a:r>
          </a:p>
          <a:p>
            <a:r>
              <a:rPr lang="en-US" altLang="en-US" dirty="0"/>
              <a:t>Displacement against time </a:t>
            </a:r>
          </a:p>
          <a:p>
            <a:pPr marL="109728" indent="0">
              <a:buNone/>
            </a:pPr>
            <a:r>
              <a:rPr lang="en-US" altLang="en-US" sz="3200" b="1" i="1" dirty="0">
                <a:solidFill>
                  <a:srgbClr val="FFFF00"/>
                </a:solidFill>
              </a:rPr>
              <a:t> </a:t>
            </a:r>
            <a:r>
              <a:rPr lang="en-US" altLang="en-US" sz="3200" b="1" i="1" dirty="0" smtClean="0">
                <a:solidFill>
                  <a:srgbClr val="FFFF00"/>
                </a:solidFill>
              </a:rPr>
              <a:t>    V(t</a:t>
            </a:r>
            <a:r>
              <a:rPr lang="en-US" altLang="en-US" sz="3200" b="1" i="1" dirty="0" smtClean="0">
                <a:solidFill>
                  <a:srgbClr val="FFFF00"/>
                </a:solidFill>
              </a:rPr>
              <a:t>) </a:t>
            </a:r>
            <a:r>
              <a:rPr lang="en-US" altLang="en-US" sz="3200" b="1" i="1" dirty="0">
                <a:solidFill>
                  <a:srgbClr val="FFFF00"/>
                </a:solidFill>
              </a:rPr>
              <a:t>= </a:t>
            </a:r>
            <a:r>
              <a:rPr lang="en-US" altLang="en-US" sz="3200" b="1" i="1" dirty="0" smtClean="0">
                <a:solidFill>
                  <a:srgbClr val="FFFF00"/>
                </a:solidFill>
              </a:rPr>
              <a:t>-</a:t>
            </a:r>
            <a:r>
              <a:rPr lang="en-US" altLang="en-US" sz="3200" i="1" dirty="0" err="1" smtClean="0">
                <a:solidFill>
                  <a:srgbClr val="FFFF00"/>
                </a:solidFill>
                <a:latin typeface="Symbol" pitchFamily="18" charset="2"/>
              </a:rPr>
              <a:t>wA</a:t>
            </a:r>
            <a:r>
              <a:rPr lang="en-US" altLang="en-US" sz="3200" b="1" i="1" baseline="-25000" dirty="0" smtClean="0">
                <a:solidFill>
                  <a:srgbClr val="FFFF00"/>
                </a:solidFill>
              </a:rPr>
              <a:t> </a:t>
            </a:r>
            <a:r>
              <a:rPr lang="en-US" altLang="en-US" sz="3200" b="1" i="1" dirty="0" smtClean="0">
                <a:solidFill>
                  <a:srgbClr val="FFFF00"/>
                </a:solidFill>
              </a:rPr>
              <a:t>sin(</a:t>
            </a:r>
            <a:r>
              <a:rPr lang="en-US" altLang="en-US" sz="3200" b="1" i="1" dirty="0" err="1" smtClean="0">
                <a:solidFill>
                  <a:srgbClr val="FFFF00"/>
                </a:solidFill>
                <a:latin typeface="Symbol" pitchFamily="18" charset="2"/>
              </a:rPr>
              <a:t>w</a:t>
            </a:r>
            <a:r>
              <a:rPr lang="en-US" altLang="en-US" sz="3200" b="1" i="1" dirty="0" err="1" smtClean="0">
                <a:solidFill>
                  <a:srgbClr val="FFFF00"/>
                </a:solidFill>
              </a:rPr>
              <a:t>t</a:t>
            </a:r>
            <a:r>
              <a:rPr lang="en-US" altLang="en-US" sz="3200" b="1" i="1" dirty="0" smtClean="0">
                <a:solidFill>
                  <a:srgbClr val="FFFF00"/>
                </a:solidFill>
              </a:rPr>
              <a:t>)</a:t>
            </a:r>
            <a:endParaRPr lang="en-US" altLang="en-US" sz="3200" b="1" i="1" dirty="0">
              <a:solidFill>
                <a:srgbClr val="FFFF00"/>
              </a:solidFill>
            </a:endParaRPr>
          </a:p>
          <a:p>
            <a:pPr marL="109728" indent="0">
              <a:buNone/>
            </a:pPr>
            <a:endParaRPr lang="en-US" altLang="en-US" dirty="0" smtClean="0"/>
          </a:p>
          <a:p>
            <a:pPr marL="109728" indent="0">
              <a:buNone/>
            </a:pPr>
            <a:endParaRPr lang="en-US" altLang="en-US" dirty="0"/>
          </a:p>
          <a:p>
            <a:pPr marL="109728" indent="0">
              <a:buNone/>
            </a:pPr>
            <a:endParaRPr lang="en-US" altLang="en-US" dirty="0"/>
          </a:p>
          <a:p>
            <a:endParaRPr lang="en-US" alt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Velocity </a:t>
            </a:r>
            <a:r>
              <a:rPr lang="en-US" dirty="0" smtClean="0"/>
              <a:t>in SHM</a:t>
            </a:r>
            <a:endParaRPr 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5825" y="3810000"/>
            <a:ext cx="4295775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5824" y="685800"/>
            <a:ext cx="4295776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2465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76200" y="762000"/>
                <a:ext cx="4191000" cy="6096000"/>
              </a:xfrm>
            </p:spPr>
            <p:txBody>
              <a:bodyPr>
                <a:normAutofit/>
              </a:bodyPr>
              <a:lstStyle/>
              <a:p>
                <a:r>
                  <a:rPr lang="en-US" altLang="en-US" dirty="0" smtClean="0"/>
                  <a:t>Motion starts from equilibrium</a:t>
                </a:r>
              </a:p>
              <a:p>
                <a:r>
                  <a:rPr lang="en-US" i="1" dirty="0"/>
                  <a:t>Maximum acceleration </a:t>
                </a:r>
                <a:r>
                  <a:rPr lang="en-US" dirty="0"/>
                  <a:t>is observed at </a:t>
                </a:r>
                <a:r>
                  <a:rPr lang="en-US" i="1" dirty="0">
                    <a:solidFill>
                      <a:srgbClr val="FFFF00"/>
                    </a:solidFill>
                  </a:rPr>
                  <a:t>x = ±A</a:t>
                </a:r>
                <a:r>
                  <a:rPr lang="en-US" dirty="0"/>
                  <a:t>;</a:t>
                </a:r>
                <a:endParaRPr lang="en-US" altLang="en-US" dirty="0" smtClean="0"/>
              </a:p>
              <a:p>
                <a:r>
                  <a:rPr lang="en-US" altLang="en-US" dirty="0"/>
                  <a:t>Displacement against time </a:t>
                </a:r>
              </a:p>
              <a:p>
                <a:pPr marL="109728" indent="0">
                  <a:buNone/>
                </a:pPr>
                <a:r>
                  <a:rPr lang="en-US" altLang="en-US" dirty="0"/>
                  <a:t> </a:t>
                </a:r>
                <a:r>
                  <a:rPr lang="en-US" altLang="en-US" sz="3200" i="1" dirty="0" smtClean="0">
                    <a:solidFill>
                      <a:srgbClr val="FFFF00"/>
                    </a:solidFill>
                  </a:rPr>
                  <a:t>a(t) = 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32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altLang="en-US" sz="3200" i="1" smtClean="0">
                            <a:solidFill>
                              <a:srgbClr val="FFFF00"/>
                            </a:solidFill>
                            <a:latin typeface="Cambria Math"/>
                          </a:rPr>
                          <m:t>𝜔</m:t>
                        </m:r>
                      </m:e>
                      <m:sup>
                        <m:r>
                          <a:rPr lang="en-US" altLang="en-US" sz="3200" b="0" i="1" smtClean="0">
                            <a:solidFill>
                              <a:srgbClr val="FFFF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3200" i="1" dirty="0" smtClean="0">
                    <a:solidFill>
                      <a:srgbClr val="FFFF00"/>
                    </a:solidFill>
                  </a:rPr>
                  <a:t>A sin</a:t>
                </a:r>
                <a:r>
                  <a:rPr lang="en-US" altLang="en-US" sz="3200" i="1" dirty="0" smtClean="0">
                    <a:solidFill>
                      <a:srgbClr val="FFFF00"/>
                    </a:solidFill>
                    <a:latin typeface="Symbol" pitchFamily="18" charset="2"/>
                  </a:rPr>
                  <a:t>w</a:t>
                </a:r>
                <a:r>
                  <a:rPr lang="en-US" altLang="en-US" sz="3200" i="1" dirty="0" smtClean="0">
                    <a:solidFill>
                      <a:srgbClr val="FFFF00"/>
                    </a:solidFill>
                  </a:rPr>
                  <a:t>t</a:t>
                </a:r>
                <a:endParaRPr lang="en-US" altLang="en-US" sz="3200" i="1" dirty="0" smtClean="0">
                  <a:solidFill>
                    <a:srgbClr val="FFFF00"/>
                  </a:solidFill>
                </a:endParaRPr>
              </a:p>
              <a:p>
                <a:pPr marL="109728" indent="0">
                  <a:buNone/>
                </a:pPr>
                <a:endParaRPr lang="en-US" altLang="en-US" dirty="0" smtClean="0"/>
              </a:p>
              <a:p>
                <a:r>
                  <a:rPr lang="en-US" altLang="en-US" dirty="0"/>
                  <a:t>Motion starts from the limit of the oscillation </a:t>
                </a:r>
              </a:p>
              <a:p>
                <a:r>
                  <a:rPr lang="en-US" altLang="en-US" dirty="0"/>
                  <a:t>Displacement against time </a:t>
                </a:r>
              </a:p>
              <a:p>
                <a:pPr marL="109728" indent="0">
                  <a:buNone/>
                </a:pPr>
                <a:r>
                  <a:rPr lang="en-US" altLang="en-US" sz="3200" i="1" dirty="0" smtClean="0">
                    <a:solidFill>
                      <a:srgbClr val="FFFF00"/>
                    </a:solidFill>
                  </a:rPr>
                  <a:t>   a(t) = 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32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altLang="en-US" sz="3200" i="1">
                            <a:solidFill>
                              <a:srgbClr val="FFFF00"/>
                            </a:solidFill>
                            <a:latin typeface="Cambria Math"/>
                          </a:rPr>
                          <m:t>𝜔</m:t>
                        </m:r>
                      </m:e>
                      <m:sup>
                        <m:r>
                          <a:rPr lang="en-US" altLang="en-US" sz="3200" i="1">
                            <a:solidFill>
                              <a:srgbClr val="FFFF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3200" i="1" dirty="0" smtClean="0">
                    <a:solidFill>
                      <a:srgbClr val="FFFF00"/>
                    </a:solidFill>
                  </a:rPr>
                  <a:t>A cos(</a:t>
                </a:r>
                <a:r>
                  <a:rPr lang="en-US" altLang="en-US" sz="3200" i="1" dirty="0" smtClean="0">
                    <a:solidFill>
                      <a:srgbClr val="FFFF00"/>
                    </a:solidFill>
                    <a:latin typeface="Symbol" pitchFamily="18" charset="2"/>
                  </a:rPr>
                  <a:t>w</a:t>
                </a:r>
                <a:r>
                  <a:rPr lang="en-US" altLang="en-US" sz="3200" i="1" dirty="0" smtClean="0">
                    <a:solidFill>
                      <a:srgbClr val="FFFF00"/>
                    </a:solidFill>
                  </a:rPr>
                  <a:t>t)</a:t>
                </a:r>
                <a:endParaRPr lang="en-US" altLang="en-US" sz="3200" i="1" dirty="0">
                  <a:solidFill>
                    <a:srgbClr val="FFFF00"/>
                  </a:solidFill>
                </a:endParaRPr>
              </a:p>
              <a:p>
                <a:endParaRPr lang="en-US" altLang="en-US" dirty="0" smtClean="0"/>
              </a:p>
              <a:p>
                <a:endParaRPr lang="en-US" altLang="en-US" dirty="0"/>
              </a:p>
            </p:txBody>
          </p:sp>
        </mc:Choice>
        <mc:Fallback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762000"/>
                <a:ext cx="4191000" cy="6096000"/>
              </a:xfrm>
              <a:blipFill>
                <a:blip r:embed="rId2"/>
                <a:stretch>
                  <a:fillRect t="-900" r="-4658" b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Acceleration in a SHM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505200"/>
            <a:ext cx="4876799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599" y="533400"/>
            <a:ext cx="4876799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4727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109728" indent="0">
                  <a:buNone/>
                </a:pPr>
                <a:r>
                  <a:rPr lang="en-US" sz="3600" dirty="0" smtClean="0"/>
                  <a:t>             </a:t>
                </a:r>
                <a:r>
                  <a:rPr lang="en-US" sz="3600" dirty="0" smtClean="0">
                    <a:solidFill>
                      <a:srgbClr val="FFFF00"/>
                    </a:solidFill>
                  </a:rPr>
                  <a:t>V </a:t>
                </a:r>
                <a:r>
                  <a:rPr lang="en-US" sz="3600" dirty="0" smtClean="0">
                    <a:solidFill>
                      <a:srgbClr val="FFFF00"/>
                    </a:solidFill>
                  </a:rPr>
                  <a:t>=</a:t>
                </a:r>
                <a:r>
                  <a:rPr lang="en-US" sz="3600" dirty="0" smtClean="0">
                    <a:solidFill>
                      <a:srgbClr val="FFFF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</a:rPr>
                      <m:t>±</m:t>
                    </m:r>
                    <m:r>
                      <a:rPr lang="el-GR" sz="3600" i="1" dirty="0" smtClean="0">
                        <a:solidFill>
                          <a:srgbClr val="FFFF00"/>
                        </a:solidFill>
                        <a:latin typeface="Cambria Math"/>
                      </a:rPr>
                      <m:t>𝜔</m:t>
                    </m:r>
                    <m:rad>
                      <m:radPr>
                        <m:degHide m:val="on"/>
                        <m:ctrlPr>
                          <a:rPr lang="el-GR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l-GR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dirty="0" smtClean="0">
                                <a:solidFill>
                                  <a:srgbClr val="FFFF00"/>
                                </a:solidFill>
                                <a:latin typeface="Cambria Math"/>
                              </a:rPr>
                              <m:t>𝐴</m:t>
                            </m:r>
                          </m:e>
                          <m:sup>
                            <m:r>
                              <a:rPr lang="en-US" sz="3600" b="0" i="1" dirty="0" smtClean="0">
                                <a:solidFill>
                                  <a:srgbClr val="FFFF00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sz="3600" b="0" i="1" dirty="0" smtClean="0">
                            <a:solidFill>
                              <a:srgbClr val="FFFF00"/>
                            </a:solidFill>
                            <a:latin typeface="Cambria Math"/>
                          </a:rPr>
                          <m:t>−</m:t>
                        </m:r>
                        <m:sSup>
                          <m:sSupPr>
                            <m:ctrlPr>
                              <a:rPr lang="en-US" sz="3600" b="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dirty="0" smtClean="0">
                                <a:solidFill>
                                  <a:srgbClr val="FFFF00"/>
                                </a:solidFill>
                                <a:latin typeface="Cambria Math"/>
                              </a:rPr>
                              <m:t>𝑋</m:t>
                            </m:r>
                          </m:e>
                          <m:sup>
                            <m:r>
                              <a:rPr lang="en-US" sz="3600" b="0" i="1" dirty="0" smtClean="0">
                                <a:solidFill>
                                  <a:srgbClr val="FFFF00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sz="3600" dirty="0" smtClean="0"/>
              </a:p>
              <a:p>
                <a:pPr marL="109728" indent="0">
                  <a:buNone/>
                </a:pPr>
                <a:endParaRPr lang="en-US" sz="3600" dirty="0" smtClean="0"/>
              </a:p>
              <a:p>
                <a:r>
                  <a:rPr lang="en-US" sz="3600" dirty="0" smtClean="0"/>
                  <a:t>The particle has </a:t>
                </a:r>
                <a14:m>
                  <m:oMath xmlns:m="http://schemas.openxmlformats.org/officeDocument/2006/math">
                    <m:r>
                      <a:rPr lang="en-US" sz="3600" i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</a:rPr>
                      <m:t>±</m:t>
                    </m:r>
                  </m:oMath>
                </a14:m>
                <a:r>
                  <a:rPr lang="en-US" sz="3600" dirty="0" smtClean="0">
                    <a:solidFill>
                      <a:srgbClr val="FFFF00"/>
                    </a:solidFill>
                  </a:rPr>
                  <a:t>V </a:t>
                </a:r>
                <a:r>
                  <a:rPr lang="en-US" sz="3600" dirty="0" smtClean="0"/>
                  <a:t>at a single point in the path</a:t>
                </a:r>
              </a:p>
              <a:p>
                <a:r>
                  <a:rPr lang="en-US" sz="3600" dirty="0" smtClean="0"/>
                  <a:t>Maximum when the object passes the equilibrium</a:t>
                </a:r>
              </a:p>
            </p:txBody>
          </p:sp>
        </mc:Choice>
        <mc:Fallback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04" r="-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Velocity and Displacement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240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91200"/>
          </a:xfrm>
        </p:spPr>
        <p:txBody>
          <a:bodyPr>
            <a:normAutofit lnSpcReduction="10000"/>
          </a:bodyPr>
          <a:lstStyle/>
          <a:p>
            <a:r>
              <a:rPr lang="en-US" sz="3200" dirty="0" smtClean="0"/>
              <a:t>In free oscillation the </a:t>
            </a:r>
            <a:r>
              <a:rPr lang="en-US" sz="3200" dirty="0"/>
              <a:t>total energy is constant</a:t>
            </a:r>
          </a:p>
          <a:p>
            <a:pPr marL="109728" indent="0">
              <a:buNone/>
            </a:pPr>
            <a:r>
              <a:rPr lang="en-US" sz="3200" dirty="0" smtClean="0"/>
              <a:t>                    </a:t>
            </a:r>
            <a:r>
              <a:rPr lang="en-US" sz="3200" dirty="0" smtClean="0">
                <a:solidFill>
                  <a:srgbClr val="FFFF00"/>
                </a:solidFill>
              </a:rPr>
              <a:t>E = </a:t>
            </a:r>
            <a:r>
              <a:rPr lang="en-US" sz="3200" dirty="0" smtClean="0">
                <a:solidFill>
                  <a:srgbClr val="FFFF00"/>
                </a:solidFill>
              </a:rPr>
              <a:t>PE + KE</a:t>
            </a:r>
          </a:p>
          <a:p>
            <a:pPr fontAlgn="base"/>
            <a:r>
              <a:rPr lang="en-US" sz="3200" dirty="0"/>
              <a:t>The kinetic energy can be found by</a:t>
            </a:r>
          </a:p>
          <a:p>
            <a:pPr marL="109728" indent="0">
              <a:buNone/>
            </a:pPr>
            <a:r>
              <a:rPr lang="en-US" sz="3200" i="1" dirty="0" smtClean="0">
                <a:solidFill>
                  <a:srgbClr val="FFFF00"/>
                </a:solidFill>
              </a:rPr>
              <a:t>                   K</a:t>
            </a:r>
            <a:r>
              <a:rPr lang="en-US" sz="3200" dirty="0" smtClean="0">
                <a:solidFill>
                  <a:srgbClr val="FFFF00"/>
                </a:solidFill>
              </a:rPr>
              <a:t> </a:t>
            </a:r>
            <a:r>
              <a:rPr lang="en-US" sz="3200" dirty="0">
                <a:solidFill>
                  <a:srgbClr val="FFFF00"/>
                </a:solidFill>
              </a:rPr>
              <a:t>= ½ </a:t>
            </a:r>
            <a:r>
              <a:rPr lang="en-US" sz="3200" i="1" dirty="0">
                <a:solidFill>
                  <a:srgbClr val="FFFF00"/>
                </a:solidFill>
              </a:rPr>
              <a:t>mv </a:t>
            </a:r>
            <a:r>
              <a:rPr lang="en-US" sz="3200" baseline="30000" dirty="0" smtClean="0">
                <a:solidFill>
                  <a:srgbClr val="FFFF00"/>
                </a:solidFill>
              </a:rPr>
              <a:t>2</a:t>
            </a:r>
            <a:r>
              <a:rPr lang="en-US" sz="3200" dirty="0" smtClean="0">
                <a:solidFill>
                  <a:srgbClr val="FFFF00"/>
                </a:solidFill>
              </a:rPr>
              <a:t> </a:t>
            </a:r>
            <a:r>
              <a:rPr lang="en-US" sz="3200" dirty="0" smtClean="0"/>
              <a:t>	</a:t>
            </a:r>
          </a:p>
          <a:p>
            <a:pPr marL="109728" indent="0">
              <a:buNone/>
            </a:pPr>
            <a:r>
              <a:rPr lang="en-US" sz="3200" dirty="0" err="1" smtClean="0">
                <a:solidFill>
                  <a:srgbClr val="FFFF00"/>
                </a:solidFill>
              </a:rPr>
              <a:t>Kmax</a:t>
            </a:r>
            <a:r>
              <a:rPr lang="en-US" sz="3200" dirty="0" smtClean="0">
                <a:solidFill>
                  <a:srgbClr val="FFFF00"/>
                </a:solidFill>
              </a:rPr>
              <a:t> = ½ </a:t>
            </a:r>
            <a:r>
              <a:rPr lang="en-US" sz="3200" i="1" dirty="0" smtClean="0">
                <a:solidFill>
                  <a:srgbClr val="FFFF00"/>
                </a:solidFill>
              </a:rPr>
              <a:t>kA</a:t>
            </a:r>
            <a:r>
              <a:rPr lang="en-US" sz="3200" baseline="30000" dirty="0" smtClean="0">
                <a:solidFill>
                  <a:srgbClr val="FFFF00"/>
                </a:solidFill>
              </a:rPr>
              <a:t>2  </a:t>
            </a:r>
            <a:r>
              <a:rPr lang="en-US" sz="3200" dirty="0" smtClean="0">
                <a:solidFill>
                  <a:srgbClr val="FFFF00"/>
                </a:solidFill>
              </a:rPr>
              <a:t> </a:t>
            </a:r>
            <a:r>
              <a:rPr lang="en-US" sz="3200" dirty="0" smtClean="0"/>
              <a:t>- object passes the equilibrium position</a:t>
            </a:r>
          </a:p>
          <a:p>
            <a:r>
              <a:rPr lang="en-US" sz="3200" dirty="0"/>
              <a:t>The elastic potential energy can be found </a:t>
            </a:r>
            <a:endParaRPr lang="en-US" sz="3200" dirty="0" smtClean="0"/>
          </a:p>
          <a:p>
            <a:pPr marL="109728" indent="0">
              <a:buNone/>
            </a:pPr>
            <a:r>
              <a:rPr lang="en-US" sz="3200" i="1" dirty="0" smtClean="0"/>
              <a:t>                     </a:t>
            </a:r>
            <a:r>
              <a:rPr lang="en-US" sz="3200" i="1" dirty="0" smtClean="0">
                <a:solidFill>
                  <a:srgbClr val="FFFF00"/>
                </a:solidFill>
              </a:rPr>
              <a:t>U</a:t>
            </a:r>
            <a:r>
              <a:rPr lang="en-US" sz="3200" dirty="0" smtClean="0">
                <a:solidFill>
                  <a:srgbClr val="FFFF00"/>
                </a:solidFill>
              </a:rPr>
              <a:t> </a:t>
            </a:r>
            <a:r>
              <a:rPr lang="en-US" sz="3200" dirty="0">
                <a:solidFill>
                  <a:srgbClr val="FFFF00"/>
                </a:solidFill>
              </a:rPr>
              <a:t>= ½ </a:t>
            </a:r>
            <a:r>
              <a:rPr lang="en-US" sz="3200" i="1" dirty="0" err="1">
                <a:solidFill>
                  <a:srgbClr val="FFFF00"/>
                </a:solidFill>
              </a:rPr>
              <a:t>kx</a:t>
            </a:r>
            <a:r>
              <a:rPr lang="en-US" sz="3200" i="1" dirty="0">
                <a:solidFill>
                  <a:srgbClr val="FFFF00"/>
                </a:solidFill>
              </a:rPr>
              <a:t> </a:t>
            </a:r>
            <a:r>
              <a:rPr lang="en-US" sz="3200" baseline="30000" dirty="0">
                <a:solidFill>
                  <a:srgbClr val="FFFF00"/>
                </a:solidFill>
              </a:rPr>
              <a:t>2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endParaRPr lang="en-US" sz="3200" dirty="0" smtClean="0">
              <a:solidFill>
                <a:srgbClr val="FFFF00"/>
              </a:solidFill>
            </a:endParaRPr>
          </a:p>
          <a:p>
            <a:pPr marL="109728" indent="0">
              <a:buNone/>
            </a:pPr>
            <a:r>
              <a:rPr lang="en-US" sz="3200" dirty="0" err="1" smtClean="0">
                <a:solidFill>
                  <a:srgbClr val="FFFF00"/>
                </a:solidFill>
              </a:rPr>
              <a:t>Umax</a:t>
            </a:r>
            <a:r>
              <a:rPr lang="en-US" sz="3200" dirty="0" smtClean="0">
                <a:solidFill>
                  <a:srgbClr val="FFFF00"/>
                </a:solidFill>
              </a:rPr>
              <a:t> = ½ </a:t>
            </a:r>
            <a:r>
              <a:rPr lang="en-US" sz="3200" i="1" dirty="0" smtClean="0">
                <a:solidFill>
                  <a:srgbClr val="FFFF00"/>
                </a:solidFill>
              </a:rPr>
              <a:t>kA</a:t>
            </a:r>
            <a:r>
              <a:rPr lang="en-US" sz="3200" baseline="30000" dirty="0" smtClean="0">
                <a:solidFill>
                  <a:srgbClr val="FFFF00"/>
                </a:solidFill>
              </a:rPr>
              <a:t>2</a:t>
            </a:r>
            <a:r>
              <a:rPr lang="en-US" sz="3200" dirty="0" smtClean="0">
                <a:solidFill>
                  <a:srgbClr val="FFFF00"/>
                </a:solidFill>
              </a:rPr>
              <a:t> </a:t>
            </a:r>
            <a:r>
              <a:rPr lang="en-US" sz="3200" dirty="0" smtClean="0"/>
              <a:t>- object is at the limit of oscillation </a:t>
            </a:r>
          </a:p>
          <a:p>
            <a:r>
              <a:rPr lang="en-US" sz="3200" dirty="0"/>
              <a:t>The total energy is </a:t>
            </a:r>
            <a:r>
              <a:rPr lang="en-US" sz="3200" i="1" dirty="0">
                <a:solidFill>
                  <a:srgbClr val="FFFF00"/>
                </a:solidFill>
              </a:rPr>
              <a:t>K</a:t>
            </a:r>
            <a:r>
              <a:rPr lang="en-US" sz="3200" dirty="0">
                <a:solidFill>
                  <a:srgbClr val="FFFF00"/>
                </a:solidFill>
              </a:rPr>
              <a:t> + </a:t>
            </a:r>
            <a:r>
              <a:rPr lang="en-US" sz="3200" i="1" dirty="0">
                <a:solidFill>
                  <a:srgbClr val="FFFF00"/>
                </a:solidFill>
              </a:rPr>
              <a:t>U</a:t>
            </a:r>
            <a:r>
              <a:rPr lang="en-US" sz="3200" dirty="0">
                <a:solidFill>
                  <a:srgbClr val="FFFF00"/>
                </a:solidFill>
              </a:rPr>
              <a:t> = ½ </a:t>
            </a:r>
            <a:r>
              <a:rPr lang="en-US" sz="3200" i="1" dirty="0">
                <a:solidFill>
                  <a:srgbClr val="FFFF00"/>
                </a:solidFill>
              </a:rPr>
              <a:t>kA </a:t>
            </a:r>
            <a:r>
              <a:rPr lang="en-US" sz="3200" baseline="30000" dirty="0">
                <a:solidFill>
                  <a:srgbClr val="FFFF00"/>
                </a:solidFill>
              </a:rPr>
              <a:t>2</a:t>
            </a:r>
            <a:endParaRPr lang="en-US" sz="3200" dirty="0">
              <a:solidFill>
                <a:srgbClr val="FFFF00"/>
              </a:solidFill>
            </a:endParaRP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Energy of the </a:t>
            </a:r>
            <a:r>
              <a:rPr lang="en-US" dirty="0" smtClean="0">
                <a:effectLst/>
              </a:rPr>
              <a:t>SHM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286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7711"/>
            <a:ext cx="9144000" cy="6885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2242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3400" y="1905000"/>
            <a:ext cx="8229600" cy="1143000"/>
          </a:xfrm>
        </p:spPr>
        <p:txBody>
          <a:bodyPr/>
          <a:lstStyle/>
          <a:p>
            <a:r>
              <a:rPr lang="en-US" dirty="0"/>
              <a:t>Wave and Its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2010549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550091"/>
          </a:xfrm>
        </p:spPr>
        <p:txBody>
          <a:bodyPr>
            <a:normAutofit/>
          </a:bodyPr>
          <a:lstStyle/>
          <a:p>
            <a:r>
              <a:rPr lang="en-US" sz="3600" dirty="0" smtClean="0"/>
              <a:t>What do Waves transfer?</a:t>
            </a:r>
          </a:p>
          <a:p>
            <a:endParaRPr lang="en-US" sz="3600" dirty="0" smtClean="0"/>
          </a:p>
          <a:p>
            <a:r>
              <a:rPr lang="en-US" sz="3600" dirty="0"/>
              <a:t>What are the two main types of waves</a:t>
            </a:r>
            <a:r>
              <a:rPr lang="en-US" sz="3600" dirty="0" smtClean="0"/>
              <a:t>?</a:t>
            </a:r>
          </a:p>
          <a:p>
            <a:endParaRPr lang="en-US" sz="3600" dirty="0" smtClean="0"/>
          </a:p>
          <a:p>
            <a:r>
              <a:rPr lang="en-US" sz="3600" dirty="0"/>
              <a:t>Which type of wave requires a medium</a:t>
            </a:r>
            <a:r>
              <a:rPr lang="en-US" sz="3600" dirty="0" smtClean="0"/>
              <a:t>?</a:t>
            </a:r>
          </a:p>
          <a:p>
            <a:endParaRPr lang="en-US" sz="3600" dirty="0" smtClean="0"/>
          </a:p>
          <a:p>
            <a:r>
              <a:rPr lang="en-US" sz="3600" dirty="0" smtClean="0"/>
              <a:t>What </a:t>
            </a:r>
            <a:r>
              <a:rPr lang="en-US" sz="3600" dirty="0"/>
              <a:t>are the colors of </a:t>
            </a:r>
            <a:r>
              <a:rPr lang="en-US" sz="3600" dirty="0" smtClean="0"/>
              <a:t>Visible </a:t>
            </a:r>
            <a:r>
              <a:rPr lang="en-US" sz="3600" dirty="0"/>
              <a:t>Light</a:t>
            </a:r>
            <a:r>
              <a:rPr lang="en-US" sz="3600" dirty="0" smtClean="0"/>
              <a:t>?</a:t>
            </a:r>
            <a:r>
              <a:rPr lang="en-US" sz="3600" dirty="0"/>
              <a:t> Which color is the </a:t>
            </a:r>
            <a:r>
              <a:rPr lang="en-US" sz="3600" dirty="0" smtClean="0"/>
              <a:t>HIGHEST </a:t>
            </a:r>
            <a:r>
              <a:rPr lang="en-US" sz="3600" dirty="0"/>
              <a:t>energy wave?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675973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0" fontAlgn="base" hangingPunct="0"/>
            <a:r>
              <a:rPr lang="en-US" sz="3200" dirty="0"/>
              <a:t>rhythmic disturbances that carry energy through matter or </a:t>
            </a:r>
            <a:r>
              <a:rPr lang="en-US" sz="3200" dirty="0" smtClean="0"/>
              <a:t>space</a:t>
            </a:r>
          </a:p>
          <a:p>
            <a:pPr eaLnBrk="0" fontAlgn="base" hangingPunct="0"/>
            <a:endParaRPr lang="en-US" sz="3200" dirty="0"/>
          </a:p>
          <a:p>
            <a:r>
              <a:rPr lang="en-US" sz="3200" dirty="0" smtClean="0"/>
              <a:t>carry </a:t>
            </a:r>
            <a:r>
              <a:rPr lang="en-US" sz="3200" dirty="0"/>
              <a:t>energy and </a:t>
            </a:r>
            <a:r>
              <a:rPr lang="en-US" sz="3200" dirty="0" smtClean="0"/>
              <a:t>momentum but </a:t>
            </a:r>
            <a:r>
              <a:rPr lang="en-US" sz="3200" u="sng" dirty="0"/>
              <a:t>no</a:t>
            </a:r>
            <a:r>
              <a:rPr lang="en-US" sz="3200" dirty="0"/>
              <a:t> material or substance is transferred outward from the </a:t>
            </a:r>
            <a:r>
              <a:rPr lang="en-US" sz="3200" dirty="0" smtClean="0"/>
              <a:t>source</a:t>
            </a:r>
          </a:p>
          <a:p>
            <a:endParaRPr lang="en-US" sz="3200" dirty="0" smtClean="0"/>
          </a:p>
          <a:p>
            <a:r>
              <a:rPr lang="en-US" sz="3200" dirty="0"/>
              <a:t>Information can be sent via matter or waves. </a:t>
            </a:r>
            <a:endParaRPr lang="en-US" sz="3200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Waves</a:t>
            </a:r>
          </a:p>
        </p:txBody>
      </p:sp>
    </p:spTree>
    <p:extLst>
      <p:ext uri="{BB962C8B-B14F-4D97-AF65-F5344CB8AC3E}">
        <p14:creationId xmlns:p14="http://schemas.microsoft.com/office/powerpoint/2010/main" val="648841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2725"/>
            <a:ext cx="9067800" cy="679832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676359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"/>
            <a:ext cx="9067800" cy="6857999"/>
          </a:xfrm>
        </p:spPr>
        <p:txBody>
          <a:bodyPr>
            <a:normAutofit/>
          </a:bodyPr>
          <a:lstStyle/>
          <a:p>
            <a:pPr fontAlgn="base"/>
            <a:r>
              <a:rPr lang="en-US" sz="3200" b="1" u="sng" dirty="0" smtClean="0">
                <a:solidFill>
                  <a:srgbClr val="FFFF00"/>
                </a:solidFill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Crest</a:t>
            </a:r>
            <a:r>
              <a:rPr lang="en-US" sz="3200" dirty="0" smtClean="0">
                <a:solidFill>
                  <a:srgbClr val="FFFF00"/>
                </a:solidFill>
              </a:rPr>
              <a:t>; </a:t>
            </a:r>
            <a:r>
              <a:rPr lang="en-US" sz="3200" dirty="0" smtClean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Highest </a:t>
            </a:r>
            <a:r>
              <a:rPr lang="en-US" sz="3200" dirty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point of a transverse </a:t>
            </a:r>
            <a:r>
              <a:rPr lang="en-US" sz="3200" dirty="0" smtClean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wave</a:t>
            </a:r>
          </a:p>
          <a:p>
            <a:pPr fontAlgn="base"/>
            <a:r>
              <a:rPr lang="en-US" sz="3200" b="1" u="sng" dirty="0" smtClean="0">
                <a:solidFill>
                  <a:srgbClr val="FFFF00"/>
                </a:solidFill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Trough; </a:t>
            </a:r>
            <a:r>
              <a:rPr lang="en-US" sz="3200" b="1" dirty="0" smtClean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lowest</a:t>
            </a:r>
            <a:r>
              <a:rPr lang="en-US" sz="3200" dirty="0" smtClean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 </a:t>
            </a:r>
            <a:r>
              <a:rPr lang="en-US" sz="3200" dirty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point of a transverse </a:t>
            </a:r>
            <a:r>
              <a:rPr lang="en-US" sz="3200" dirty="0" smtClean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wave</a:t>
            </a:r>
          </a:p>
          <a:p>
            <a:pPr fontAlgn="base"/>
            <a:r>
              <a:rPr lang="en-US" sz="3200" u="sng" dirty="0" smtClean="0">
                <a:solidFill>
                  <a:srgbClr val="FFFF00"/>
                </a:solidFill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Amplitude; </a:t>
            </a:r>
            <a:r>
              <a:rPr lang="en-US" sz="3200" dirty="0" smtClean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The </a:t>
            </a:r>
            <a:r>
              <a:rPr lang="en-US" sz="3200" dirty="0" smtClean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maximum vertical </a:t>
            </a:r>
            <a:r>
              <a:rPr lang="en-US" sz="3200" dirty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distance that particles vibrate from their normal position when a wave </a:t>
            </a:r>
            <a:r>
              <a:rPr lang="en-US" sz="3200" dirty="0" smtClean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passes</a:t>
            </a:r>
            <a:r>
              <a:rPr lang="en-US" sz="3200" dirty="0" smtClean="0"/>
              <a:t> </a:t>
            </a:r>
            <a:endParaRPr lang="en-US" sz="3200" dirty="0" smtClean="0"/>
          </a:p>
          <a:p>
            <a:pPr fontAlgn="base"/>
            <a:r>
              <a:rPr lang="en-US" sz="3200" dirty="0" smtClean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measures </a:t>
            </a:r>
            <a:r>
              <a:rPr lang="en-US" sz="3200" dirty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the intensity of </a:t>
            </a:r>
            <a:r>
              <a:rPr lang="en-US" sz="3200" dirty="0" smtClean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wave</a:t>
            </a:r>
            <a:r>
              <a:rPr lang="en-US" sz="3200" dirty="0" smtClean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. (</a:t>
            </a:r>
            <a:r>
              <a:rPr lang="en-US" sz="3200" dirty="0" smtClean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Loudness</a:t>
            </a:r>
            <a:r>
              <a:rPr lang="en-US" sz="3200" dirty="0" smtClean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, brightness</a:t>
            </a:r>
            <a:r>
              <a:rPr lang="en-US" sz="3200" dirty="0" smtClean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)</a:t>
            </a:r>
          </a:p>
          <a:p>
            <a:pPr fontAlgn="base"/>
            <a:r>
              <a:rPr lang="en-US" sz="3200" u="sng" dirty="0" smtClean="0">
                <a:solidFill>
                  <a:srgbClr val="FFFF00"/>
                </a:solidFill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Wavelength;</a:t>
            </a:r>
            <a:r>
              <a:rPr lang="en-US" sz="3200" u="sng" dirty="0" smtClean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 </a:t>
            </a:r>
            <a:r>
              <a:rPr lang="en-US" sz="3200" dirty="0" smtClean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The distance between any two successive identical parts of a wave</a:t>
            </a:r>
          </a:p>
          <a:p>
            <a:pPr fontAlgn="base"/>
            <a:r>
              <a:rPr lang="en-US" sz="3200" u="sng" dirty="0" smtClean="0">
                <a:solidFill>
                  <a:srgbClr val="FFFF00"/>
                </a:solidFill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Frequency</a:t>
            </a:r>
            <a:r>
              <a:rPr lang="en-US" sz="3200" dirty="0" smtClean="0">
                <a:solidFill>
                  <a:srgbClr val="FFFF00"/>
                </a:solidFill>
              </a:rPr>
              <a:t>; </a:t>
            </a:r>
            <a:r>
              <a:rPr lang="en-US" sz="3200" dirty="0" smtClean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the </a:t>
            </a:r>
            <a:r>
              <a:rPr lang="en-US" sz="3200" dirty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number of full wavelengths that pass a point in a particular period of time (rate</a:t>
            </a:r>
            <a:r>
              <a:rPr lang="en-US" sz="3200" dirty="0" smtClean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). Determines energy and color(</a:t>
            </a:r>
            <a:r>
              <a:rPr lang="en-US" sz="3200" dirty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Red is the easiest to see, violet is the hottest (most energetic)</a:t>
            </a:r>
            <a:endParaRPr lang="en-US" sz="3200" dirty="0"/>
          </a:p>
          <a:p>
            <a:pPr fontAlgn="base"/>
            <a:endParaRPr lang="en-US" sz="3200" dirty="0"/>
          </a:p>
          <a:p>
            <a:pPr fontAlgn="base"/>
            <a:endParaRPr lang="en-US" sz="3200" dirty="0" smtClean="0"/>
          </a:p>
          <a:p>
            <a:pPr marL="109728" indent="0" fontAlgn="base">
              <a:buNone/>
            </a:pPr>
            <a:endParaRPr lang="en-US" sz="3200" dirty="0"/>
          </a:p>
          <a:p>
            <a:pPr fontAlgn="base"/>
            <a:endParaRPr lang="en-US" sz="3200" dirty="0" smtClean="0">
              <a:effectLst>
                <a:outerShdw blurRad="38100" dist="38100" dir="2700000" algn="tl" rotWithShape="0">
                  <a:srgbClr val="000000"/>
                </a:outerShdw>
              </a:effectLst>
            </a:endParaRPr>
          </a:p>
          <a:p>
            <a:pPr fontAlgn="base"/>
            <a:endParaRPr lang="en-US" sz="3200" dirty="0"/>
          </a:p>
          <a:p>
            <a:pPr fontAlgn="base"/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35399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>
                    <a:effectLst>
                      <a:outerShdw blurRad="38100" dist="38100" dir="2700000" algn="tl" rotWithShape="0">
                        <a:srgbClr val="000000"/>
                      </a:outerShdw>
                    </a:effectLst>
                  </a:rPr>
                  <a:t>the </a:t>
                </a:r>
                <a:r>
                  <a:rPr lang="en-US" dirty="0">
                    <a:effectLst>
                      <a:outerShdw blurRad="38100" dist="38100" dir="2700000" algn="tl" rotWithShape="0">
                        <a:srgbClr val="000000"/>
                      </a:outerShdw>
                    </a:effectLst>
                  </a:rPr>
                  <a:t>speed at which a wave passes through a </a:t>
                </a:r>
                <a:r>
                  <a:rPr lang="en-US" dirty="0" smtClean="0">
                    <a:effectLst>
                      <a:outerShdw blurRad="38100" dist="38100" dir="2700000" algn="tl" rotWithShape="0">
                        <a:srgbClr val="000000"/>
                      </a:outerShdw>
                    </a:effectLst>
                  </a:rPr>
                  <a:t>medium.</a:t>
                </a:r>
                <a:endParaRPr lang="en-US" dirty="0" smtClean="0"/>
              </a:p>
              <a:p>
                <a:r>
                  <a:rPr lang="en-US" dirty="0" smtClean="0">
                    <a:effectLst>
                      <a:outerShdw blurRad="38100" dist="38100" dir="2700000" algn="tl" rotWithShape="0">
                        <a:srgbClr val="000000"/>
                      </a:outerShdw>
                    </a:effectLst>
                  </a:rPr>
                  <a:t>Waves </a:t>
                </a:r>
                <a:r>
                  <a:rPr lang="en-US" dirty="0">
                    <a:effectLst>
                      <a:outerShdw blurRad="38100" dist="38100" dir="2700000" algn="tl" rotWithShape="0">
                        <a:srgbClr val="000000"/>
                      </a:outerShdw>
                    </a:effectLst>
                  </a:rPr>
                  <a:t>travel at different speeds in different media phases (s, l, g</a:t>
                </a:r>
                <a:r>
                  <a:rPr lang="en-US" dirty="0" smtClean="0">
                    <a:effectLst>
                      <a:outerShdw blurRad="38100" dist="38100" dir="2700000" algn="tl" rotWithShape="0">
                        <a:srgbClr val="000000"/>
                      </a:outerShdw>
                    </a:effectLst>
                  </a:rPr>
                  <a:t>).</a:t>
                </a:r>
              </a:p>
              <a:p>
                <a:pPr fontAlgn="base"/>
                <a:r>
                  <a:rPr lang="en-US" dirty="0">
                    <a:effectLst>
                      <a:outerShdw blurRad="38100" dist="38100" dir="2700000" algn="tl" rotWithShape="0">
                        <a:srgbClr val="000000"/>
                      </a:outerShdw>
                    </a:effectLst>
                  </a:rPr>
                  <a:t>These waves travel fastest in solids and the slowest </a:t>
                </a:r>
                <a:r>
                  <a:rPr lang="en-US" dirty="0" smtClean="0">
                    <a:effectLst>
                      <a:outerShdw blurRad="38100" dist="38100" dir="2700000" algn="tl" rotWithShape="0">
                        <a:srgbClr val="000000"/>
                      </a:outerShdw>
                    </a:effectLst>
                  </a:rPr>
                  <a:t>in gases(why?)</a:t>
                </a:r>
              </a:p>
              <a:p>
                <a:pPr fontAlgn="base"/>
                <a:r>
                  <a:rPr lang="en-US" dirty="0" smtClean="0">
                    <a:effectLst>
                      <a:outerShdw blurRad="38100" dist="38100" dir="2700000" algn="tl" rotWithShape="0">
                        <a:srgbClr val="000000"/>
                      </a:outerShdw>
                    </a:effectLst>
                  </a:rPr>
                  <a:t>V=f</a:t>
                </a:r>
                <a:r>
                  <a:rPr lang="el-GR" dirty="0" smtClean="0">
                    <a:effectLst>
                      <a:outerShdw blurRad="38100" dist="38100" dir="2700000" algn="tl" rotWithShape="0">
                        <a:srgbClr val="000000"/>
                      </a:outerShdw>
                    </a:effectLst>
                  </a:rPr>
                  <a:t>λ</a:t>
                </a:r>
                <a:endParaRPr lang="en-US" dirty="0" smtClean="0">
                  <a:effectLst>
                    <a:outerShdw blurRad="38100" dist="38100" dir="2700000" algn="tl" rotWithShape="0">
                      <a:srgbClr val="000000"/>
                    </a:outerShdw>
                  </a:effectLst>
                </a:endParaRPr>
              </a:p>
              <a:p>
                <a:pPr fontAlgn="base"/>
                <a:r>
                  <a:rPr lang="en-US" dirty="0" smtClean="0">
                    <a:effectLst>
                      <a:outerShdw blurRad="38100" dist="38100" dir="2700000" algn="tl" rotWithShape="0">
                        <a:srgbClr val="000000"/>
                      </a:outerShdw>
                    </a:effectLst>
                  </a:rPr>
                  <a:t>For mechanical wave in a material medium </a:t>
                </a:r>
              </a:p>
              <a:p>
                <a:pPr marL="109728" indent="0" fontAlgn="base">
                  <a:buNone/>
                </a:pPr>
                <a:r>
                  <a:rPr lang="en-US" dirty="0">
                    <a:effectLst>
                      <a:outerShdw blurRad="38100" dist="38100" dir="2700000" algn="tl" rotWithShape="0">
                        <a:srgbClr val="000000"/>
                      </a:outerShdw>
                    </a:effectLst>
                  </a:rPr>
                  <a:t> </a:t>
                </a:r>
                <a:r>
                  <a:rPr lang="en-US" dirty="0" smtClean="0">
                    <a:effectLst>
                      <a:outerShdw blurRad="38100" dist="38100" dir="2700000" algn="tl" rotWithShape="0">
                        <a:srgbClr val="000000"/>
                      </a:outerShdw>
                    </a:effectLst>
                  </a:rPr>
                  <a:t>  V=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effectLst>
                              <a:outerShdw blurRad="38100" dist="38100" dir="2700000" algn="tl" rotWithShape="0">
                                <a:srgbClr val="000000"/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 smtClean="0">
                                <a:effectLst>
                                  <a:outerShdw blurRad="38100" dist="38100" dir="2700000" algn="tl" rotWithShape="0">
                                    <a:srgbClr val="00000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effectLst>
                                  <a:outerShdw blurRad="38100" dist="38100" dir="2700000" algn="tl" rotWithShape="0">
                                    <a:srgbClr val="000000"/>
                                  </a:outerShdw>
                                </a:effectLst>
                                <a:latin typeface="Cambria Math"/>
                              </a:rPr>
                              <m:t>𝑒𝑙𝑎𝑠𝑡𝑖𝑐</m:t>
                            </m:r>
                            <m:r>
                              <a:rPr lang="en-US" b="0" i="1" smtClean="0">
                                <a:effectLst>
                                  <a:outerShdw blurRad="38100" dist="38100" dir="2700000" algn="tl" rotWithShape="0">
                                    <a:srgbClr val="000000"/>
                                  </a:outerShdw>
                                </a:effectLst>
                                <a:latin typeface="Cambria Math"/>
                              </a:rPr>
                              <m:t> </m:t>
                            </m:r>
                            <m:r>
                              <a:rPr lang="en-US" b="0" i="1" smtClean="0">
                                <a:effectLst>
                                  <a:outerShdw blurRad="38100" dist="38100" dir="2700000" algn="tl" rotWithShape="0">
                                    <a:srgbClr val="000000"/>
                                  </a:outerShdw>
                                </a:effectLst>
                                <a:latin typeface="Cambria Math"/>
                              </a:rPr>
                              <m:t>𝑝𝑟𝑜𝑝𝑒𝑟𝑡𝑦</m:t>
                            </m:r>
                            <m:r>
                              <a:rPr lang="en-US" b="0" i="1" smtClean="0">
                                <a:effectLst>
                                  <a:outerShdw blurRad="38100" dist="38100" dir="2700000" algn="tl" rotWithShape="0">
                                    <a:srgbClr val="000000"/>
                                  </a:outerShdw>
                                </a:effectLst>
                                <a:latin typeface="Cambria Math"/>
                              </a:rPr>
                              <m:t> </m:t>
                            </m:r>
                          </m:num>
                          <m:den>
                            <m:r>
                              <a:rPr lang="en-US" b="0" i="1" smtClean="0">
                                <a:effectLst>
                                  <a:outerShdw blurRad="38100" dist="38100" dir="2700000" algn="tl" rotWithShape="0">
                                    <a:srgbClr val="000000"/>
                                  </a:outerShdw>
                                </a:effectLst>
                                <a:latin typeface="Cambria Math"/>
                              </a:rPr>
                              <m:t>𝑖𝑛𝑒𝑟𝑡𝑖𝑎𝑙</m:t>
                            </m:r>
                            <m:r>
                              <a:rPr lang="en-US" b="0" i="1" smtClean="0">
                                <a:effectLst>
                                  <a:outerShdw blurRad="38100" dist="38100" dir="2700000" algn="tl" rotWithShape="0">
                                    <a:srgbClr val="000000"/>
                                  </a:outerShdw>
                                </a:effectLst>
                                <a:latin typeface="Cambria Math"/>
                              </a:rPr>
                              <m:t> </m:t>
                            </m:r>
                            <m:r>
                              <a:rPr lang="en-US" b="0" i="1" smtClean="0">
                                <a:effectLst>
                                  <a:outerShdw blurRad="38100" dist="38100" dir="2700000" algn="tl" rotWithShape="0">
                                    <a:srgbClr val="000000"/>
                                  </a:outerShdw>
                                </a:effectLst>
                                <a:latin typeface="Cambria Math"/>
                              </a:rPr>
                              <m:t>𝑝𝑟𝑜𝑝𝑒𝑟𝑡𝑦</m:t>
                            </m:r>
                            <m:r>
                              <a:rPr lang="en-US" b="0" i="1" smtClean="0">
                                <a:effectLst>
                                  <a:outerShdw blurRad="38100" dist="38100" dir="2700000" algn="tl" rotWithShape="0">
                                    <a:srgbClr val="000000"/>
                                  </a:outerShdw>
                                </a:effectLst>
                                <a:latin typeface="Cambria Math"/>
                              </a:rPr>
                              <m:t>  </m:t>
                            </m:r>
                          </m:den>
                        </m:f>
                      </m:e>
                    </m:rad>
                  </m:oMath>
                </a14:m>
                <a:endParaRPr lang="en-US" dirty="0" smtClean="0"/>
              </a:p>
              <a:p>
                <a:pPr marL="109728" indent="0" fontAlgn="base">
                  <a:buNone/>
                </a:pPr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" t="-1213" b="-229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>
            <a:normAutofit fontScale="90000"/>
          </a:bodyPr>
          <a:lstStyle/>
          <a:p>
            <a:pPr fontAlgn="base"/>
            <a:r>
              <a:rPr lang="en-US" dirty="0">
                <a:effectLst/>
              </a:rPr>
              <a:t/>
            </a:r>
            <a:br>
              <a:rPr lang="en-US" dirty="0">
                <a:effectLst/>
              </a:rPr>
            </a:br>
            <a:r>
              <a:rPr lang="en-US" u="sng" dirty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Wave Speed</a:t>
            </a:r>
            <a:r>
              <a:rPr lang="en-US" dirty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 </a:t>
            </a:r>
            <a:r>
              <a:rPr lang="en-US" dirty="0">
                <a:effectLst/>
              </a:rPr>
              <a:t/>
            </a:r>
            <a:br>
              <a:rPr lang="en-US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448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6302340"/>
              </p:ext>
            </p:extLst>
          </p:nvPr>
        </p:nvGraphicFramePr>
        <p:xfrm>
          <a:off x="990600" y="1143000"/>
          <a:ext cx="7620000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34200" cy="868362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TYPES  OF WAVES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2286000" y="2819400"/>
            <a:ext cx="7620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own Arrow 23"/>
          <p:cNvSpPr/>
          <p:nvPr/>
        </p:nvSpPr>
        <p:spPr>
          <a:xfrm>
            <a:off x="3796284" y="3124200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own Arrow 24"/>
          <p:cNvSpPr/>
          <p:nvPr/>
        </p:nvSpPr>
        <p:spPr>
          <a:xfrm>
            <a:off x="1839468" y="3124200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own Arrow 25"/>
          <p:cNvSpPr/>
          <p:nvPr/>
        </p:nvSpPr>
        <p:spPr>
          <a:xfrm>
            <a:off x="6685402" y="3200400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Down Arrow 26"/>
          <p:cNvSpPr/>
          <p:nvPr/>
        </p:nvSpPr>
        <p:spPr>
          <a:xfrm>
            <a:off x="2958084" y="1447800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own Arrow 27"/>
          <p:cNvSpPr/>
          <p:nvPr/>
        </p:nvSpPr>
        <p:spPr>
          <a:xfrm>
            <a:off x="6136450" y="1600200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34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28600"/>
            <a:ext cx="4191000" cy="5778691"/>
          </a:xfrm>
        </p:spPr>
        <p:txBody>
          <a:bodyPr/>
          <a:lstStyle/>
          <a:p>
            <a:pPr eaLnBrk="0" fontAlgn="base" hangingPunct="0"/>
            <a:r>
              <a:rPr lang="en-US" b="1" u="sng" dirty="0"/>
              <a:t>Mechanical Waves</a:t>
            </a:r>
          </a:p>
          <a:p>
            <a:pPr eaLnBrk="0" fontAlgn="base" hangingPunct="0"/>
            <a:r>
              <a:rPr lang="en-US" dirty="0"/>
              <a:t>Must travel through a material medium </a:t>
            </a:r>
            <a:endParaRPr lang="en-US" dirty="0" smtClean="0"/>
          </a:p>
          <a:p>
            <a:pPr eaLnBrk="0" fontAlgn="base" hangingPunct="0"/>
            <a:r>
              <a:rPr lang="en-US" dirty="0" smtClean="0"/>
              <a:t>Cannot </a:t>
            </a:r>
            <a:r>
              <a:rPr lang="en-US" dirty="0"/>
              <a:t>travel through a vacuum</a:t>
            </a:r>
          </a:p>
          <a:p>
            <a:pPr eaLnBrk="0" fontAlgn="base" hangingPunct="0"/>
            <a:r>
              <a:rPr lang="en-US" dirty="0"/>
              <a:t>Examples: sound, ocean waves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521" y="3352800"/>
            <a:ext cx="2492375" cy="168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4724400" y="361720"/>
            <a:ext cx="3810000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/>
            <a:r>
              <a:rPr lang="en-US" sz="2700" b="1" u="sng" dirty="0" smtClean="0"/>
              <a:t>Electromagnetic Waves</a:t>
            </a:r>
          </a:p>
          <a:p>
            <a:pPr marL="457200" indent="-457200" eaLnBrk="0" fontAlgn="base" hangingPunct="0">
              <a:buFont typeface="Wingdings" pitchFamily="2" charset="2"/>
              <a:buChar char="ü"/>
            </a:pPr>
            <a:r>
              <a:rPr lang="en-US" sz="2700" dirty="0" smtClean="0"/>
              <a:t>Does </a:t>
            </a:r>
            <a:r>
              <a:rPr lang="en-US" sz="2700" u="sng" dirty="0" smtClean="0"/>
              <a:t>not</a:t>
            </a:r>
            <a:r>
              <a:rPr lang="en-US" sz="2700" dirty="0" smtClean="0"/>
              <a:t> require a </a:t>
            </a:r>
            <a:r>
              <a:rPr lang="en-US" sz="2800" dirty="0"/>
              <a:t>material </a:t>
            </a:r>
            <a:r>
              <a:rPr lang="en-US" sz="2800" dirty="0" smtClean="0"/>
              <a:t>medium</a:t>
            </a:r>
          </a:p>
          <a:p>
            <a:pPr marL="457200" indent="-457200" eaLnBrk="0" fontAlgn="base" hangingPunct="0">
              <a:buFont typeface="Wingdings" pitchFamily="2" charset="2"/>
              <a:buChar char="ü"/>
            </a:pPr>
            <a:r>
              <a:rPr lang="en-US" sz="2700" dirty="0" smtClean="0"/>
              <a:t>Can be transferred through a vacuum</a:t>
            </a:r>
          </a:p>
          <a:p>
            <a:pPr marL="457200" indent="-457200" eaLnBrk="0" fontAlgn="base" hangingPunct="0">
              <a:buFont typeface="Wingdings" pitchFamily="2" charset="2"/>
              <a:buChar char="ü"/>
            </a:pPr>
            <a:r>
              <a:rPr lang="en-US" sz="2700" dirty="0" smtClean="0"/>
              <a:t>Examples: light, UV rays, Visible light</a:t>
            </a:r>
          </a:p>
          <a:p>
            <a:pPr eaLnBrk="0" fontAlgn="base" hangingPunct="0"/>
            <a:endParaRPr lang="en-US" sz="2800" dirty="0">
              <a:effectLst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6656" y="3293268"/>
            <a:ext cx="1835150" cy="180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5395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854891"/>
          </a:xfrm>
        </p:spPr>
        <p:txBody>
          <a:bodyPr/>
          <a:lstStyle/>
          <a:p>
            <a:r>
              <a:rPr lang="en-US" dirty="0"/>
              <a:t>Longitudinal		             Transverse</a:t>
            </a:r>
          </a:p>
          <a:p>
            <a:endParaRPr lang="en-US" dirty="0"/>
          </a:p>
        </p:txBody>
      </p:sp>
      <p:pic>
        <p:nvPicPr>
          <p:cNvPr id="4" name="Picture 3" descr="C:\My Documents\Christy's Stuff\Teaching Stuff\Media\wave - types.gif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527" b="21803"/>
          <a:stretch>
            <a:fillRect/>
          </a:stretch>
        </p:blipFill>
        <p:spPr bwMode="auto">
          <a:xfrm>
            <a:off x="533400" y="685800"/>
            <a:ext cx="8077200" cy="174466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801518" y="2829910"/>
            <a:ext cx="3843051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eaLnBrk="0" fontAlgn="base" hangingPunct="0">
              <a:buFont typeface="Wingdings" pitchFamily="2" charset="2"/>
              <a:buChar char="ü"/>
            </a:pPr>
            <a:r>
              <a:rPr lang="en-US" sz="2800" dirty="0"/>
              <a:t>medium vibrates perpendicular to the direction of wave </a:t>
            </a:r>
            <a:r>
              <a:rPr lang="en-US" sz="2800" dirty="0" smtClean="0"/>
              <a:t>motion</a:t>
            </a:r>
          </a:p>
          <a:p>
            <a:pPr marL="457200" indent="-457200" eaLnBrk="0" fontAlgn="base" hangingPunct="0">
              <a:buFont typeface="Wingdings" pitchFamily="2" charset="2"/>
              <a:buChar char="ü"/>
            </a:pPr>
            <a:r>
              <a:rPr lang="en-US" sz="2800" dirty="0" smtClean="0"/>
              <a:t>Examples</a:t>
            </a:r>
            <a:r>
              <a:rPr lang="en-US" sz="2800" dirty="0"/>
              <a:t>: </a:t>
            </a:r>
            <a:r>
              <a:rPr lang="en-US" sz="2800" dirty="0" smtClean="0"/>
              <a:t>electromagnetic waves</a:t>
            </a:r>
          </a:p>
          <a:p>
            <a:pPr eaLnBrk="0" fontAlgn="base" hangingPunct="0"/>
            <a:endParaRPr lang="en-US" dirty="0">
              <a:effectLst/>
            </a:endParaRPr>
          </a:p>
          <a:p>
            <a:pPr eaLnBrk="0" fontAlgn="base" hangingPunct="0"/>
            <a:endParaRPr lang="en-US" dirty="0" smtClean="0"/>
          </a:p>
          <a:p>
            <a:pPr eaLnBrk="0" fontAlgn="base" hangingPunct="0"/>
            <a:endParaRPr lang="en-US" dirty="0">
              <a:effectLst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5821" y="2819400"/>
            <a:ext cx="42672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eaLnBrk="0" fontAlgn="base" hangingPunct="0">
              <a:buFont typeface="Wingdings" pitchFamily="2" charset="2"/>
              <a:buChar char="ü"/>
            </a:pPr>
            <a:r>
              <a:rPr lang="en-US" sz="2800" dirty="0"/>
              <a:t>medium moves in the same direction as the wave’s </a:t>
            </a:r>
            <a:r>
              <a:rPr lang="en-US" sz="2800" dirty="0" smtClean="0"/>
              <a:t>motion</a:t>
            </a:r>
          </a:p>
          <a:p>
            <a:pPr marL="457200" indent="-457200" eaLnBrk="0" fontAlgn="base" hangingPunct="0">
              <a:buFont typeface="Wingdings" pitchFamily="2" charset="2"/>
              <a:buChar char="ü"/>
            </a:pPr>
            <a:r>
              <a:rPr lang="en-US" sz="2800" dirty="0" smtClean="0"/>
              <a:t>Examples</a:t>
            </a:r>
            <a:r>
              <a:rPr lang="en-US" sz="2800" dirty="0"/>
              <a:t>: sound waves, springs, slinky</a:t>
            </a:r>
            <a:endParaRPr lang="en-US" sz="2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99554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77900" lvl="1" indent="-457200">
              <a:spcBef>
                <a:spcPct val="10000"/>
              </a:spcBef>
              <a:buClr>
                <a:schemeClr val="accent2"/>
              </a:buClr>
              <a:buFont typeface="Wingdings" pitchFamily="2" charset="2"/>
              <a:buChar char="Ø"/>
            </a:pPr>
            <a:r>
              <a:rPr lang="en-US" altLang="en-US" sz="3600" dirty="0"/>
              <a:t>Reflection</a:t>
            </a:r>
          </a:p>
          <a:p>
            <a:pPr marL="977900" lvl="1" indent="-457200">
              <a:spcBef>
                <a:spcPct val="10000"/>
              </a:spcBef>
              <a:buClr>
                <a:schemeClr val="accent2"/>
              </a:buClr>
              <a:buFont typeface="Wingdings" pitchFamily="2" charset="2"/>
              <a:buChar char="Ø"/>
            </a:pPr>
            <a:r>
              <a:rPr lang="en-US" altLang="en-US" sz="3600" dirty="0"/>
              <a:t>Refraction</a:t>
            </a:r>
          </a:p>
          <a:p>
            <a:pPr marL="977900" lvl="1" indent="-457200">
              <a:spcBef>
                <a:spcPct val="10000"/>
              </a:spcBef>
              <a:buClr>
                <a:schemeClr val="accent2"/>
              </a:buClr>
              <a:buFont typeface="Wingdings" pitchFamily="2" charset="2"/>
              <a:buChar char="Ø"/>
            </a:pPr>
            <a:r>
              <a:rPr lang="en-US" altLang="en-US" sz="3600" dirty="0"/>
              <a:t>Diffraction </a:t>
            </a:r>
          </a:p>
          <a:p>
            <a:pPr marL="977900" lvl="1" indent="-457200">
              <a:spcBef>
                <a:spcPct val="10000"/>
              </a:spcBef>
              <a:buClr>
                <a:schemeClr val="accent2"/>
              </a:buClr>
              <a:buFont typeface="Wingdings" pitchFamily="2" charset="2"/>
              <a:buChar char="Ø"/>
            </a:pPr>
            <a:r>
              <a:rPr lang="en-US" altLang="en-US" sz="3600" dirty="0"/>
              <a:t>Interference </a:t>
            </a:r>
          </a:p>
          <a:p>
            <a:pPr marL="977900" lvl="1" indent="-457200">
              <a:spcBef>
                <a:spcPct val="10000"/>
              </a:spcBef>
              <a:buClr>
                <a:schemeClr val="accent2"/>
              </a:buClr>
              <a:buFont typeface="Wingdings" pitchFamily="2" charset="2"/>
              <a:buChar char="Ø"/>
            </a:pPr>
            <a:r>
              <a:rPr lang="en-US" altLang="en-US" sz="3600" dirty="0" smtClean="0"/>
              <a:t>Doppler </a:t>
            </a:r>
            <a:r>
              <a:rPr lang="en-US" altLang="en-US" sz="3600" dirty="0"/>
              <a:t>effect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altLang="en-US" sz="4400" dirty="0"/>
              <a:t>Wave Behavior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576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The bouncing back of a wave as it meets a surface or boundary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Reflection</a:t>
            </a:r>
            <a:endParaRPr lang="en-US" dirty="0"/>
          </a:p>
        </p:txBody>
      </p:sp>
      <p:grpSp>
        <p:nvGrpSpPr>
          <p:cNvPr id="11" name="Group 10"/>
          <p:cNvGrpSpPr>
            <a:grpSpLocks/>
          </p:cNvGrpSpPr>
          <p:nvPr/>
        </p:nvGrpSpPr>
        <p:grpSpPr bwMode="auto">
          <a:xfrm>
            <a:off x="1295400" y="2679700"/>
            <a:ext cx="2286000" cy="1700213"/>
            <a:chOff x="2999" y="1481"/>
            <a:chExt cx="1729" cy="1071"/>
          </a:xfrm>
        </p:grpSpPr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3968" y="1792"/>
              <a:ext cx="760" cy="760"/>
            </a:xfrm>
            <a:prstGeom prst="line">
              <a:avLst/>
            </a:prstGeom>
            <a:noFill/>
            <a:ln w="38100" cap="rnd">
              <a:solidFill>
                <a:srgbClr val="66FF66"/>
              </a:solidFill>
              <a:round/>
              <a:headEnd/>
              <a:tailEnd type="stealth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2999" y="1481"/>
              <a:ext cx="140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en-US" sz="2400">
                  <a:solidFill>
                    <a:srgbClr val="66FF66"/>
                  </a:solidFill>
                </a:rPr>
                <a:t>incident beam</a:t>
              </a:r>
            </a:p>
          </p:txBody>
        </p:sp>
      </p:grpSp>
      <p:grpSp>
        <p:nvGrpSpPr>
          <p:cNvPr id="17" name="Group 16"/>
          <p:cNvGrpSpPr>
            <a:grpSpLocks/>
          </p:cNvGrpSpPr>
          <p:nvPr/>
        </p:nvGrpSpPr>
        <p:grpSpPr bwMode="auto">
          <a:xfrm>
            <a:off x="3574881" y="2679700"/>
            <a:ext cx="2781300" cy="1687513"/>
            <a:chOff x="4728" y="1481"/>
            <a:chExt cx="1752" cy="1063"/>
          </a:xfrm>
        </p:grpSpPr>
        <p:sp>
          <p:nvSpPr>
            <p:cNvPr id="18" name="Line 8"/>
            <p:cNvSpPr>
              <a:spLocks noChangeShapeType="1"/>
            </p:cNvSpPr>
            <p:nvPr/>
          </p:nvSpPr>
          <p:spPr bwMode="auto">
            <a:xfrm flipV="1">
              <a:off x="4728" y="1784"/>
              <a:ext cx="760" cy="760"/>
            </a:xfrm>
            <a:prstGeom prst="line">
              <a:avLst/>
            </a:prstGeom>
            <a:noFill/>
            <a:ln w="38100" cap="rnd">
              <a:solidFill>
                <a:srgbClr val="FFFF00"/>
              </a:solidFill>
              <a:round/>
              <a:headEnd/>
              <a:tailEnd type="stealth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9" name="Text Box 11"/>
            <p:cNvSpPr txBox="1">
              <a:spLocks noChangeArrowheads="1"/>
            </p:cNvSpPr>
            <p:nvPr/>
          </p:nvSpPr>
          <p:spPr bwMode="auto">
            <a:xfrm>
              <a:off x="5008" y="1481"/>
              <a:ext cx="14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en-US" sz="2400">
                  <a:solidFill>
                    <a:srgbClr val="FFFF00"/>
                  </a:solidFill>
                </a:rPr>
                <a:t>reflected beam</a:t>
              </a:r>
            </a:p>
          </p:txBody>
        </p:sp>
      </p:grpSp>
      <p:grpSp>
        <p:nvGrpSpPr>
          <p:cNvPr id="20" name="Group 19"/>
          <p:cNvGrpSpPr>
            <a:grpSpLocks/>
          </p:cNvGrpSpPr>
          <p:nvPr/>
        </p:nvGrpSpPr>
        <p:grpSpPr bwMode="auto">
          <a:xfrm>
            <a:off x="3574102" y="1964665"/>
            <a:ext cx="45719" cy="2754313"/>
            <a:chOff x="4341" y="1041"/>
            <a:chExt cx="778" cy="1735"/>
          </a:xfrm>
        </p:grpSpPr>
        <p:sp>
          <p:nvSpPr>
            <p:cNvPr id="21" name="Line 14"/>
            <p:cNvSpPr>
              <a:spLocks noChangeShapeType="1"/>
            </p:cNvSpPr>
            <p:nvPr/>
          </p:nvSpPr>
          <p:spPr bwMode="auto">
            <a:xfrm flipV="1">
              <a:off x="4728" y="1320"/>
              <a:ext cx="0" cy="14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2" name="Text Box 15"/>
            <p:cNvSpPr txBox="1">
              <a:spLocks noChangeArrowheads="1"/>
            </p:cNvSpPr>
            <p:nvPr/>
          </p:nvSpPr>
          <p:spPr bwMode="auto">
            <a:xfrm>
              <a:off x="4341" y="1041"/>
              <a:ext cx="7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en-US" sz="2400"/>
                <a:t>Normal</a:t>
              </a:r>
              <a:endParaRPr lang="en-US" altLang="en-US" sz="2400">
                <a:solidFill>
                  <a:srgbClr val="FFFF00"/>
                </a:solidFill>
              </a:endParaRPr>
            </a:p>
          </p:txBody>
        </p:sp>
        <p:sp>
          <p:nvSpPr>
            <p:cNvPr id="23" name="Freeform 22"/>
            <p:cNvSpPr>
              <a:spLocks/>
            </p:cNvSpPr>
            <p:nvPr/>
          </p:nvSpPr>
          <p:spPr bwMode="auto">
            <a:xfrm>
              <a:off x="4728" y="2560"/>
              <a:ext cx="128" cy="128"/>
            </a:xfrm>
            <a:custGeom>
              <a:avLst/>
              <a:gdLst>
                <a:gd name="T0" fmla="*/ 0 w 128"/>
                <a:gd name="T1" fmla="*/ 128 h 128"/>
                <a:gd name="T2" fmla="*/ 128 w 128"/>
                <a:gd name="T3" fmla="*/ 128 h 128"/>
                <a:gd name="T4" fmla="*/ 128 w 128"/>
                <a:gd name="T5" fmla="*/ 0 h 1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8" h="128">
                  <a:moveTo>
                    <a:pt x="0" y="128"/>
                  </a:moveTo>
                  <a:cubicBezTo>
                    <a:pt x="43" y="128"/>
                    <a:pt x="85" y="128"/>
                    <a:pt x="128" y="128"/>
                  </a:cubicBezTo>
                  <a:lnTo>
                    <a:pt x="128" y="0"/>
                  </a:lnTo>
                </a:path>
              </a:pathLst>
            </a:custGeom>
            <a:noFill/>
            <a:ln w="381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sp>
        <p:nvSpPr>
          <p:cNvPr id="24" name="Line 9"/>
          <p:cNvSpPr>
            <a:spLocks noChangeShapeType="1"/>
          </p:cNvSpPr>
          <p:nvPr/>
        </p:nvSpPr>
        <p:spPr bwMode="auto">
          <a:xfrm>
            <a:off x="2120731" y="4367213"/>
            <a:ext cx="2908300" cy="0"/>
          </a:xfrm>
          <a:prstGeom prst="line">
            <a:avLst/>
          </a:prstGeom>
          <a:noFill/>
          <a:ln w="381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pic>
        <p:nvPicPr>
          <p:cNvPr id="25" name="Picture 24" descr="C:\My Documents\Christy's Stuff\Teaching Stuff\Media\reflection - different surfaces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029200"/>
            <a:ext cx="6275388" cy="1754188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1686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5257800" cy="4525963"/>
          </a:xfrm>
        </p:spPr>
        <p:txBody>
          <a:bodyPr>
            <a:normAutofit fontScale="92500" lnSpcReduction="10000"/>
          </a:bodyPr>
          <a:lstStyle/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CCFF"/>
              </a:buClr>
              <a:buFont typeface="Wingdings" pitchFamily="2" charset="2"/>
              <a:buChar char="w"/>
            </a:pPr>
            <a:r>
              <a:rPr lang="en-US" altLang="en-US" sz="2800" kern="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bending of waves when passing from one medium to another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CCFF"/>
              </a:buClr>
              <a:buFont typeface="Wingdings" pitchFamily="2" charset="2"/>
              <a:buChar char="w"/>
            </a:pPr>
            <a:r>
              <a:rPr lang="en-US" altLang="en-US" sz="2800" kern="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caused by a change in speed</a:t>
            </a:r>
          </a:p>
          <a:p>
            <a:pPr marL="1143000" lvl="2" eaLnBrk="0" fontAlgn="base" hangingPunct="0">
              <a:spcBef>
                <a:spcPct val="2000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800" kern="0" dirty="0" smtClean="0">
                <a:solidFill>
                  <a:srgbClr val="66FF66"/>
                </a:solidFill>
                <a:latin typeface="Arial" pitchFamily="34" charset="0"/>
                <a:cs typeface="Arial" pitchFamily="34" charset="0"/>
              </a:rPr>
              <a:t>slower </a:t>
            </a:r>
            <a:r>
              <a:rPr lang="en-US" altLang="en-US" sz="2800" kern="0" dirty="0">
                <a:solidFill>
                  <a:srgbClr val="66FF66"/>
                </a:solidFill>
                <a:latin typeface="Arial" pitchFamily="34" charset="0"/>
                <a:cs typeface="Arial" pitchFamily="34" charset="0"/>
              </a:rPr>
              <a:t>(more dense)</a:t>
            </a:r>
            <a:r>
              <a:rPr lang="en-US" altLang="en-US" sz="2800" kern="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800" kern="0" dirty="0">
                <a:solidFill>
                  <a:srgbClr val="FFFFFF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 light bends toward the </a:t>
            </a:r>
            <a:r>
              <a:rPr lang="en-US" altLang="en-US" sz="2800" kern="0" dirty="0" smtClean="0">
                <a:solidFill>
                  <a:srgbClr val="FFFFFF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normal</a:t>
            </a:r>
          </a:p>
          <a:p>
            <a:pPr marL="1143000" lvl="2" eaLnBrk="0" fontAlgn="base" hangingPunct="0">
              <a:spcBef>
                <a:spcPct val="2000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800" kern="0" dirty="0" smtClean="0">
              <a:solidFill>
                <a:srgbClr val="FFFFFF"/>
              </a:solidFill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marL="1143000" lvl="2" eaLnBrk="0" fontAlgn="base" hangingPunct="0">
              <a:spcBef>
                <a:spcPct val="2000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800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faster (less dense)</a:t>
            </a:r>
            <a:r>
              <a:rPr lang="en-US" alt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800" dirty="0">
                <a:latin typeface="Arial" pitchFamily="34" charset="0"/>
                <a:cs typeface="Arial" pitchFamily="34" charset="0"/>
                <a:sym typeface="Symbol" pitchFamily="18" charset="2"/>
              </a:rPr>
              <a:t> light bends away from the </a:t>
            </a:r>
            <a:r>
              <a:rPr lang="en-US" altLang="en-US" sz="2800" dirty="0" smtClean="0">
                <a:latin typeface="Arial" pitchFamily="34" charset="0"/>
                <a:cs typeface="Arial" pitchFamily="34" charset="0"/>
                <a:sym typeface="Symbol" pitchFamily="18" charset="2"/>
              </a:rPr>
              <a:t>normal</a:t>
            </a:r>
            <a:endParaRPr lang="en-US" altLang="en-US" sz="2800" dirty="0" smtClean="0">
              <a:latin typeface="Arial" pitchFamily="34" charset="0"/>
              <a:cs typeface="Arial" pitchFamily="34" charset="0"/>
            </a:endParaRPr>
          </a:p>
          <a:p>
            <a:pPr marL="1143000" lvl="2" eaLnBrk="0" fontAlgn="base" hangingPunct="0">
              <a:spcBef>
                <a:spcPct val="2000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800" kern="0" dirty="0">
              <a:solidFill>
                <a:srgbClr val="FFFFFF"/>
              </a:solidFill>
              <a:latin typeface="Arial"/>
              <a:sym typeface="Symbol" pitchFamily="18" charset="2"/>
            </a:endParaRP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Refraction</a:t>
            </a:r>
            <a:endParaRPr lang="en-US" dirty="0"/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6248400" y="4267200"/>
            <a:ext cx="1919287" cy="2130425"/>
            <a:chOff x="5061" y="2847"/>
            <a:chExt cx="1209" cy="1342"/>
          </a:xfrm>
        </p:grpSpPr>
        <p:pic>
          <p:nvPicPr>
            <p:cNvPr id="5" name="Picture 4" descr="C:\My Documents\Christy's Stuff\Teaching Stuff\Media\refraction direction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196" r="68605"/>
            <a:stretch>
              <a:fillRect/>
            </a:stretch>
          </p:blipFill>
          <p:spPr bwMode="auto">
            <a:xfrm>
              <a:off x="5061" y="3117"/>
              <a:ext cx="1209" cy="1072"/>
            </a:xfrm>
            <a:prstGeom prst="rect">
              <a:avLst/>
            </a:prstGeom>
            <a:noFill/>
            <a:ln w="28575">
              <a:solidFill>
                <a:srgbClr val="FF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 Box 7"/>
            <p:cNvSpPr txBox="1">
              <a:spLocks noChangeArrowheads="1"/>
            </p:cNvSpPr>
            <p:nvPr/>
          </p:nvSpPr>
          <p:spPr bwMode="auto">
            <a:xfrm>
              <a:off x="5287" y="2847"/>
              <a:ext cx="75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en-US" sz="2000">
                  <a:solidFill>
                    <a:srgbClr val="FFFF00"/>
                  </a:solidFill>
                </a:rPr>
                <a:t>FASTER</a:t>
              </a:r>
            </a:p>
          </p:txBody>
        </p:sp>
      </p:grp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6607175" y="1524000"/>
            <a:ext cx="1917700" cy="2127251"/>
            <a:chOff x="5062" y="1287"/>
            <a:chExt cx="1208" cy="1340"/>
          </a:xfrm>
        </p:grpSpPr>
        <p:pic>
          <p:nvPicPr>
            <p:cNvPr id="8" name="Picture 7" descr="C:\My Documents\Christy's Stuff\Teaching Stuff\Media\refraction direction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544" t="18619" r="33496"/>
            <a:stretch>
              <a:fillRect/>
            </a:stretch>
          </p:blipFill>
          <p:spPr bwMode="auto">
            <a:xfrm>
              <a:off x="5062" y="1578"/>
              <a:ext cx="1208" cy="1049"/>
            </a:xfrm>
            <a:prstGeom prst="rect">
              <a:avLst/>
            </a:prstGeom>
            <a:noFill/>
            <a:ln w="38100">
              <a:solidFill>
                <a:srgbClr val="66FF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5256" y="1287"/>
              <a:ext cx="81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rnd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en-US" sz="2000">
                  <a:solidFill>
                    <a:srgbClr val="66FF66"/>
                  </a:solidFill>
                </a:rPr>
                <a:t>SLOWER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4367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3400" y="923131"/>
            <a:ext cx="3657600" cy="3809999"/>
          </a:xfrm>
        </p:spPr>
        <p:txBody>
          <a:bodyPr/>
          <a:lstStyle/>
          <a:p>
            <a:pPr marL="109728" indent="0">
              <a:buNone/>
            </a:pPr>
            <a:r>
              <a:rPr lang="en-US" dirty="0"/>
              <a:t>Refraction depends on…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speed of light in </a:t>
            </a:r>
            <a:r>
              <a:rPr lang="en-US" dirty="0" smtClean="0"/>
              <a:t>the </a:t>
            </a:r>
            <a:r>
              <a:rPr lang="en-US" dirty="0"/>
              <a:t>medium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wavelength of </a:t>
            </a:r>
            <a:r>
              <a:rPr lang="en-US" dirty="0" smtClean="0"/>
              <a:t>the </a:t>
            </a:r>
            <a:r>
              <a:rPr lang="en-US" dirty="0"/>
              <a:t>light - shorter wavelengths (blue)</a:t>
            </a:r>
            <a:br>
              <a:rPr lang="en-US" dirty="0"/>
            </a:br>
            <a:r>
              <a:rPr lang="en-US" dirty="0"/>
              <a:t>bend more</a:t>
            </a:r>
          </a:p>
          <a:p>
            <a:endParaRPr lang="en-US" dirty="0"/>
          </a:p>
        </p:txBody>
      </p:sp>
      <p:pic>
        <p:nvPicPr>
          <p:cNvPr id="5" name="Picture 4" descr="C:\MYDOCU~1\HTML\WEBSITE\PRISM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59" r="6110"/>
          <a:stretch>
            <a:fillRect/>
          </a:stretch>
        </p:blipFill>
        <p:spPr bwMode="auto">
          <a:xfrm>
            <a:off x="4953000" y="1143000"/>
            <a:ext cx="3733800" cy="3370262"/>
          </a:xfrm>
          <a:prstGeom prst="rect">
            <a:avLst/>
          </a:prstGeom>
          <a:noFill/>
          <a:ln w="2857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819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4114800" cy="4525963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GB" dirty="0"/>
              <a:t>is the spreading of waves around a slit or an obstacle</a:t>
            </a:r>
            <a:r>
              <a:rPr lang="en-GB" dirty="0" smtClean="0"/>
              <a:t>.</a:t>
            </a:r>
          </a:p>
          <a:p>
            <a:pPr fontAlgn="base"/>
            <a:r>
              <a:rPr lang="en-GB" dirty="0"/>
              <a:t>This effect is only significantly noticeable if the slit width is approximately the same size as the wavelength of the waves</a:t>
            </a:r>
            <a:r>
              <a:rPr lang="en-GB" dirty="0" smtClean="0"/>
              <a:t>.</a:t>
            </a:r>
            <a:endParaRPr lang="en-US" dirty="0"/>
          </a:p>
          <a:p>
            <a:pPr marL="365760" lvl="1" indent="-256032">
              <a:spcBef>
                <a:spcPts val="400"/>
              </a:spcBef>
              <a:buSzPct val="68000"/>
              <a:buFont typeface="Wingdings 3"/>
              <a:buChar char=""/>
            </a:pPr>
            <a:r>
              <a:rPr lang="en-US" altLang="en-US" sz="2800" dirty="0" smtClean="0"/>
              <a:t>longer </a:t>
            </a:r>
            <a:r>
              <a:rPr lang="en-US" altLang="en-US" sz="2800" dirty="0"/>
              <a:t>wavelengths (red) </a:t>
            </a:r>
            <a:r>
              <a:rPr lang="en-US" altLang="en-US" sz="2800" dirty="0" smtClean="0"/>
              <a:t>spread </a:t>
            </a:r>
            <a:r>
              <a:rPr lang="en-US" altLang="en-US" sz="2800" dirty="0"/>
              <a:t>more </a:t>
            </a:r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Diffraction</a:t>
            </a:r>
            <a:endParaRPr lang="en-US" dirty="0"/>
          </a:p>
        </p:txBody>
      </p:sp>
      <p:pic>
        <p:nvPicPr>
          <p:cNvPr id="4" name="Picture 3" descr="diffrac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533400"/>
            <a:ext cx="51054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1077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305800" cy="4525963"/>
          </a:xfrm>
        </p:spPr>
        <p:txBody>
          <a:bodyPr/>
          <a:lstStyle/>
          <a:p>
            <a:pPr fontAlgn="base"/>
            <a:r>
              <a:rPr lang="en-US" dirty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The combination of two or more waves that exist in the same place at the same time</a:t>
            </a:r>
            <a:r>
              <a:rPr lang="en-US" dirty="0" smtClean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.</a:t>
            </a:r>
          </a:p>
          <a:p>
            <a:pPr fontAlgn="base"/>
            <a:r>
              <a:rPr lang="en-US" dirty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Once waves pass, they return to original shape</a:t>
            </a:r>
            <a:endParaRPr lang="en-US" dirty="0"/>
          </a:p>
          <a:p>
            <a:pPr fontAlgn="base"/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Interference</a:t>
            </a:r>
            <a:endParaRPr lang="en-US" dirty="0"/>
          </a:p>
        </p:txBody>
      </p:sp>
      <p:pic>
        <p:nvPicPr>
          <p:cNvPr id="6" name="two-point interference.avi">
            <a:hlinkClick r:id="" action="ppaction://media"/>
          </p:cNvPr>
          <p:cNvPicPr>
            <a:picLocks noChangeAspect="1" noChangeArrowheads="1"/>
          </p:cNvPicPr>
          <p:nvPr>
            <a:videoFile r:link="rId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048000"/>
            <a:ext cx="55626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1312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685800"/>
            <a:ext cx="5029200" cy="5321491"/>
          </a:xfrm>
        </p:spPr>
        <p:txBody>
          <a:bodyPr>
            <a:normAutofit/>
          </a:bodyPr>
          <a:lstStyle/>
          <a:p>
            <a:r>
              <a:rPr lang="en-US" altLang="en-US" sz="2400" b="1" dirty="0">
                <a:solidFill>
                  <a:srgbClr val="DEF5FA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Franklin Gothic Medium"/>
                <a:ea typeface="+mj-ea"/>
                <a:cs typeface="+mj-cs"/>
              </a:rPr>
              <a:t>constructive </a:t>
            </a:r>
            <a:r>
              <a:rPr lang="en-US" altLang="en-US" sz="2400" b="1" dirty="0">
                <a:solidFill>
                  <a:srgbClr val="DEF5FA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Franklin Gothic Medium"/>
                <a:ea typeface="+mj-ea"/>
                <a:cs typeface="+mj-cs"/>
                <a:sym typeface="Symbol" pitchFamily="18" charset="2"/>
              </a:rPr>
              <a:t> </a:t>
            </a:r>
            <a:r>
              <a:rPr lang="en-US" altLang="en-US" sz="2400" b="1" dirty="0">
                <a:solidFill>
                  <a:srgbClr val="DEF5FA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Franklin Gothic Medium"/>
                <a:ea typeface="+mj-ea"/>
                <a:cs typeface="+mj-cs"/>
              </a:rPr>
              <a:t>brighter </a:t>
            </a:r>
            <a:r>
              <a:rPr lang="en-US" altLang="en-US" sz="2400" b="1" dirty="0" smtClean="0">
                <a:solidFill>
                  <a:srgbClr val="DEF5FA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Franklin Gothic Medium"/>
                <a:ea typeface="+mj-ea"/>
                <a:cs typeface="+mj-cs"/>
              </a:rPr>
              <a:t>light</a:t>
            </a:r>
          </a:p>
          <a:p>
            <a:r>
              <a:rPr lang="en-US" altLang="en-US" sz="2400" b="1" dirty="0" smtClean="0">
                <a:solidFill>
                  <a:srgbClr val="DEF5FA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Franklin Gothic Medium"/>
                <a:ea typeface="+mj-ea"/>
                <a:cs typeface="+mj-cs"/>
              </a:rPr>
              <a:t>destructive </a:t>
            </a:r>
            <a:r>
              <a:rPr lang="en-US" altLang="en-US" sz="2400" b="1" dirty="0">
                <a:solidFill>
                  <a:srgbClr val="DEF5FA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Franklin Gothic Medium"/>
                <a:ea typeface="+mj-ea"/>
                <a:cs typeface="+mj-cs"/>
                <a:sym typeface="Symbol" pitchFamily="18" charset="2"/>
              </a:rPr>
              <a:t></a:t>
            </a:r>
            <a:r>
              <a:rPr lang="en-US" altLang="en-US" sz="2400" b="1" dirty="0">
                <a:solidFill>
                  <a:srgbClr val="DEF5FA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Franklin Gothic Medium"/>
                <a:ea typeface="+mj-ea"/>
                <a:cs typeface="+mj-cs"/>
              </a:rPr>
              <a:t> dimmer </a:t>
            </a:r>
            <a:r>
              <a:rPr lang="en-US" altLang="en-US" sz="2400" b="1" dirty="0" smtClean="0">
                <a:solidFill>
                  <a:srgbClr val="DEF5FA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Franklin Gothic Medium"/>
                <a:ea typeface="+mj-ea"/>
                <a:cs typeface="+mj-cs"/>
              </a:rPr>
              <a:t>light</a:t>
            </a:r>
          </a:p>
          <a:p>
            <a:r>
              <a:rPr lang="en-US" altLang="en-US" dirty="0"/>
              <a:t>Both are caused by two or more waves interacting, but…</a:t>
            </a:r>
          </a:p>
          <a:p>
            <a:r>
              <a:rPr lang="en-US" altLang="en-US" dirty="0"/>
              <a:t> </a:t>
            </a:r>
            <a:r>
              <a:rPr lang="en-US" altLang="en-US" b="1" u="sng" dirty="0"/>
              <a:t>Constructive interference </a:t>
            </a:r>
            <a:r>
              <a:rPr lang="en-US" altLang="en-US" dirty="0"/>
              <a:t>combines the energies of the two waves into a greater amplitude</a:t>
            </a:r>
          </a:p>
          <a:p>
            <a:r>
              <a:rPr lang="en-US" altLang="en-US" dirty="0"/>
              <a:t> </a:t>
            </a:r>
            <a:r>
              <a:rPr lang="en-US" altLang="en-US" sz="2400" b="1" u="sng" dirty="0"/>
              <a:t>Destructive </a:t>
            </a:r>
            <a:r>
              <a:rPr lang="en-US" altLang="en-US" sz="2400" b="1" u="sng" dirty="0" smtClean="0"/>
              <a:t>interference</a:t>
            </a:r>
          </a:p>
          <a:p>
            <a:pPr marL="109728" indent="0">
              <a:buNone/>
            </a:pPr>
            <a:r>
              <a:rPr lang="en-US" altLang="en-US" b="1" dirty="0" smtClean="0"/>
              <a:t> </a:t>
            </a:r>
            <a:r>
              <a:rPr lang="en-US" altLang="en-US" dirty="0"/>
              <a:t>reduces the energies of the two waves into a smaller amplitude.</a:t>
            </a:r>
          </a:p>
          <a:p>
            <a:pPr marL="109728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Two types of Interference</a:t>
            </a:r>
            <a:br>
              <a:rPr lang="en-US" altLang="en-US" dirty="0"/>
            </a:br>
            <a:endParaRPr lang="en-US" dirty="0"/>
          </a:p>
        </p:txBody>
      </p:sp>
      <p:pic>
        <p:nvPicPr>
          <p:cNvPr id="4" name="Picture 5" descr="http://www.asdlib.org/onlineArticles/ecourseware/Bullen_XRD/XRDModule_Theory_Diffraction_3_files/Interference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609600"/>
            <a:ext cx="34290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8098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light waves interfere with each other, colorful displays are produced.</a:t>
            </a:r>
          </a:p>
          <a:p>
            <a:r>
              <a:rPr lang="en-US" dirty="0"/>
              <a:t>When two waves with different frequencies interfere with each other, beats are produced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706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4419600" cy="4525963"/>
          </a:xfrm>
        </p:spPr>
        <p:txBody>
          <a:bodyPr>
            <a:normAutofit fontScale="92500"/>
          </a:bodyPr>
          <a:lstStyle/>
          <a:p>
            <a:r>
              <a:rPr lang="en-US" altLang="en-US" sz="2400" dirty="0" smtClean="0">
                <a:latin typeface="Arial" pitchFamily="34" charset="0"/>
                <a:cs typeface="Arial" pitchFamily="34" charset="0"/>
              </a:rPr>
              <a:t>Frequency shift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IE" sz="2400" dirty="0"/>
              <a:t>The Doppler effect is the apparent change in frequency of a wave due to the motion of the source or the observer.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IE" sz="2400" dirty="0"/>
              <a:t>The observed frequency is higher when the source and observer are getting closer.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IE" sz="2400" dirty="0"/>
              <a:t>The observed frequency is lower when the source and observer are getting farther away.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Doppler Effect</a:t>
            </a:r>
            <a:endParaRPr lang="en-US" dirty="0"/>
          </a:p>
        </p:txBody>
      </p:sp>
      <p:pic>
        <p:nvPicPr>
          <p:cNvPr id="4" name="Picture 6" descr="C:\My Documents\Christy's Stuff\Teaching Stuff\Media\Doppler Trai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143000"/>
            <a:ext cx="344805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4273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5092891"/>
              </a:xfrm>
            </p:spPr>
            <p:txBody>
              <a:bodyPr/>
              <a:lstStyle/>
              <a:p>
                <a:r>
                  <a:rPr kumimoji="1" lang="en-US" dirty="0" smtClean="0"/>
                  <a:t>When</a:t>
                </a:r>
                <a:r>
                  <a:rPr lang="en-US" dirty="0" smtClean="0"/>
                  <a:t> the </a:t>
                </a:r>
                <a:r>
                  <a:rPr lang="en-US" dirty="0"/>
                  <a:t>source and observer are approaching each </a:t>
                </a:r>
                <a:r>
                  <a:rPr lang="en-US" dirty="0" smtClean="0"/>
                  <a:t>other.</a:t>
                </a:r>
              </a:p>
              <a:p>
                <a:pPr marL="109728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𝑜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  <m:r>
                          <a:rPr lang="en-US" b="0" i="1" smtClean="0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  <m:r>
                          <a:rPr lang="en-US" b="0" i="1" smtClean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𝑠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 smtClean="0"/>
                  <a:t>  </a:t>
                </a:r>
                <a:r>
                  <a:rPr kumimoji="1" lang="en-US" dirty="0"/>
                  <a:t>The observed frequency of wave is increased </a:t>
                </a:r>
                <a:endParaRPr lang="en-US" dirty="0" smtClean="0"/>
              </a:p>
              <a:p>
                <a:pPr fontAlgn="base"/>
                <a:r>
                  <a:rPr kumimoji="1" lang="en-US" dirty="0"/>
                  <a:t>when they are receding from each </a:t>
                </a:r>
                <a:r>
                  <a:rPr kumimoji="1" lang="en-US" dirty="0" smtClean="0"/>
                  <a:t>other</a:t>
                </a:r>
                <a:r>
                  <a:rPr kumimoji="1" lang="en-US" dirty="0"/>
                  <a:t>.</a:t>
                </a:r>
                <a:endParaRPr lang="en-US" dirty="0" smtClean="0"/>
              </a:p>
              <a:p>
                <a:pPr marL="109728" indent="0" fontAlgn="base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𝑜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𝑣</m:t>
                        </m:r>
                        <m:r>
                          <a:rPr lang="en-US" b="0" i="1" smtClean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/>
                          </a:rPr>
                          <m:t>𝑣</m:t>
                        </m:r>
                        <m:r>
                          <a:rPr lang="en-US" b="0" i="1" smtClean="0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 smtClean="0"/>
                  <a:t> </a:t>
                </a:r>
                <a:r>
                  <a:rPr kumimoji="1" lang="en-US" dirty="0"/>
                  <a:t>The observed frequency of wave is </a:t>
                </a:r>
                <a:r>
                  <a:rPr kumimoji="1" lang="en-US" dirty="0" smtClean="0"/>
                  <a:t>decreased </a:t>
                </a:r>
              </a:p>
              <a:p>
                <a:pPr marL="109728" indent="0" fontAlgn="base">
                  <a:buNone/>
                </a:pPr>
                <a:r>
                  <a:rPr kumimoji="1" lang="en-US" dirty="0" smtClean="0"/>
                  <a:t>Generally </a:t>
                </a:r>
                <a:endParaRPr lang="en-US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𝑜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±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∓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𝑠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 smtClean="0"/>
                  <a:t> 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5092891"/>
              </a:xfrm>
              <a:blipFill rotWithShape="1">
                <a:blip r:embed="rId2"/>
                <a:stretch>
                  <a:fillRect t="-958" r="-2000" b="-41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The Doppler Effect</a:t>
            </a:r>
            <a:r>
              <a:rPr lang="en-US" sz="4400" dirty="0">
                <a:solidFill>
                  <a:srgbClr val="E63219"/>
                </a:solidFill>
              </a:rPr>
              <a:t/>
            </a:r>
            <a:br>
              <a:rPr lang="en-US" sz="4400" dirty="0">
                <a:solidFill>
                  <a:srgbClr val="E63219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85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police microwave speed </a:t>
            </a:r>
            <a:r>
              <a:rPr lang="en-US" dirty="0" smtClean="0"/>
              <a:t>units </a:t>
            </a:r>
          </a:p>
          <a:p>
            <a:pPr fontAlgn="base"/>
            <a:r>
              <a:rPr lang="en-US" dirty="0" smtClean="0"/>
              <a:t>measuring </a:t>
            </a:r>
            <a:r>
              <a:rPr lang="en-US" dirty="0"/>
              <a:t>the speed of a tennis </a:t>
            </a:r>
            <a:r>
              <a:rPr lang="en-US" dirty="0" smtClean="0"/>
              <a:t>ball</a:t>
            </a:r>
          </a:p>
          <a:p>
            <a:pPr fontAlgn="base"/>
            <a:r>
              <a:rPr lang="en-US" dirty="0" smtClean="0"/>
              <a:t>measuring </a:t>
            </a:r>
            <a:r>
              <a:rPr lang="en-US" dirty="0"/>
              <a:t>the speed of blood flowing through an </a:t>
            </a:r>
            <a:r>
              <a:rPr lang="en-US" dirty="0" smtClean="0"/>
              <a:t>artery</a:t>
            </a:r>
          </a:p>
          <a:p>
            <a:pPr fontAlgn="base"/>
            <a:r>
              <a:rPr lang="en-US" dirty="0" smtClean="0"/>
              <a:t>monitoring </a:t>
            </a:r>
            <a:r>
              <a:rPr lang="en-US" dirty="0"/>
              <a:t>the heart-beat of a developing </a:t>
            </a:r>
            <a:r>
              <a:rPr lang="en-US" dirty="0" smtClean="0"/>
              <a:t>fetus</a:t>
            </a:r>
          </a:p>
          <a:p>
            <a:pPr fontAlgn="base"/>
            <a:r>
              <a:rPr lang="en-US" dirty="0" smtClean="0"/>
              <a:t>sonar</a:t>
            </a:r>
            <a:r>
              <a:rPr lang="en-US" dirty="0"/>
              <a:t>: ships &amp; submarines to detect submerged </a:t>
            </a:r>
            <a:r>
              <a:rPr lang="en-US" dirty="0" smtClean="0"/>
              <a:t>objects</a:t>
            </a:r>
          </a:p>
          <a:p>
            <a:pPr fontAlgn="base"/>
            <a:r>
              <a:rPr lang="en-US" dirty="0" smtClean="0"/>
              <a:t>detecting </a:t>
            </a:r>
            <a:r>
              <a:rPr lang="en-US" dirty="0"/>
              <a:t>distance </a:t>
            </a:r>
            <a:r>
              <a:rPr lang="en-US" dirty="0" smtClean="0"/>
              <a:t>planets</a:t>
            </a:r>
          </a:p>
          <a:p>
            <a:pPr fontAlgn="base"/>
            <a:r>
              <a:rPr lang="en-US" dirty="0" smtClean="0"/>
              <a:t>observing </a:t>
            </a:r>
            <a:r>
              <a:rPr lang="en-US" dirty="0"/>
              <a:t>the motion of oscillating stars </a:t>
            </a:r>
            <a:br>
              <a:rPr lang="en-US" dirty="0"/>
            </a:br>
            <a:endParaRPr lang="en-US" dirty="0">
              <a:effectLst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 of Doppler effect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343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It is the phenomenon </a:t>
            </a:r>
            <a:r>
              <a:rPr lang="en-US" dirty="0" smtClean="0"/>
              <a:t>occurs When </a:t>
            </a:r>
            <a:r>
              <a:rPr lang="en-US" dirty="0"/>
              <a:t>the frequency of the driving force is </a:t>
            </a:r>
            <a:r>
              <a:rPr lang="en-US" dirty="0" smtClean="0"/>
              <a:t>equal to </a:t>
            </a:r>
            <a:r>
              <a:rPr lang="en-US" dirty="0"/>
              <a:t>the natural frequency </a:t>
            </a:r>
            <a:r>
              <a:rPr lang="en-US" dirty="0" smtClean="0"/>
              <a:t> </a:t>
            </a:r>
            <a:endParaRPr lang="en-US" dirty="0"/>
          </a:p>
          <a:p>
            <a:r>
              <a:rPr lang="en-US" dirty="0" smtClean="0"/>
              <a:t>Causes dramatic increase </a:t>
            </a:r>
            <a:r>
              <a:rPr lang="en-US" dirty="0"/>
              <a:t>in amplitude </a:t>
            </a:r>
          </a:p>
          <a:p>
            <a:r>
              <a:rPr lang="en-US" dirty="0"/>
              <a:t>This dramatic increase in the amplitude is called resonance</a:t>
            </a:r>
          </a:p>
          <a:p>
            <a:r>
              <a:rPr lang="en-US" dirty="0" smtClean="0"/>
              <a:t>At </a:t>
            </a:r>
            <a:r>
              <a:rPr lang="en-US" dirty="0"/>
              <a:t>resonance, the applied force is in phase with the velocity 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So,  </a:t>
            </a:r>
            <a:r>
              <a:rPr lang="en-US" dirty="0"/>
              <a:t>the power transferred to the oscillator </a:t>
            </a:r>
            <a:r>
              <a:rPr lang="en-US" dirty="0" smtClean="0"/>
              <a:t>is maximum</a:t>
            </a:r>
            <a:endParaRPr lang="en-US" dirty="0"/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Energy transferred easily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Resonance</a:t>
            </a:r>
          </a:p>
        </p:txBody>
      </p:sp>
    </p:spTree>
    <p:extLst>
      <p:ext uri="{BB962C8B-B14F-4D97-AF65-F5344CB8AC3E}">
        <p14:creationId xmlns:p14="http://schemas.microsoft.com/office/powerpoint/2010/main" val="868212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0"/>
            <a:ext cx="4191000" cy="3492691"/>
          </a:xfrm>
        </p:spPr>
        <p:txBody>
          <a:bodyPr>
            <a:normAutofit/>
          </a:bodyPr>
          <a:lstStyle/>
          <a:p>
            <a:r>
              <a:rPr lang="en-US" dirty="0"/>
              <a:t>Desirable resonance:- tuning the radio, tuning musical instruments, </a:t>
            </a:r>
            <a:r>
              <a:rPr lang="en-US" dirty="0" err="1" smtClean="0"/>
              <a:t>etc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495800" y="0"/>
            <a:ext cx="440646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Undesirable resonance : safety of buildings, bridges, airplanes etc. </a:t>
            </a:r>
            <a:endParaRPr lang="en-US" sz="2800" dirty="0" smtClean="0"/>
          </a:p>
          <a:p>
            <a:r>
              <a:rPr lang="en-US" sz="2800" dirty="0"/>
              <a:t>The Tacoma Narrows Bridge suffered spectacular structural</a:t>
            </a:r>
            <a:br>
              <a:rPr lang="en-US" sz="2800" dirty="0"/>
            </a:br>
            <a:r>
              <a:rPr lang="en-US" sz="2800" dirty="0"/>
              <a:t>failure after absorbing too much </a:t>
            </a:r>
            <a:r>
              <a:rPr lang="en-US" sz="2800" dirty="0" smtClean="0"/>
              <a:t>resonant</a:t>
            </a:r>
          </a:p>
          <a:p>
            <a:endParaRPr lang="en-US" sz="28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8793" y="3581400"/>
            <a:ext cx="4269007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73344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219200" y="762000"/>
            <a:ext cx="6705600" cy="3810000"/>
          </a:xfrm>
        </p:spPr>
        <p:txBody>
          <a:bodyPr>
            <a:normAutofit/>
          </a:bodyPr>
          <a:lstStyle/>
          <a:p>
            <a:r>
              <a:rPr lang="en-US" dirty="0" smtClean="0"/>
              <a:t>        Image </a:t>
            </a:r>
            <a:r>
              <a:rPr lang="en-US" dirty="0"/>
              <a:t>Formation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by </a:t>
            </a:r>
            <a:r>
              <a:rPr lang="en-US" dirty="0"/>
              <a:t>Thin Lenses and Mirrors</a:t>
            </a:r>
          </a:p>
        </p:txBody>
      </p:sp>
    </p:spTree>
    <p:extLst>
      <p:ext uri="{BB962C8B-B14F-4D97-AF65-F5344CB8AC3E}">
        <p14:creationId xmlns:p14="http://schemas.microsoft.com/office/powerpoint/2010/main" val="2423894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940491"/>
          </a:xfrm>
        </p:spPr>
        <p:txBody>
          <a:bodyPr/>
          <a:lstStyle/>
          <a:p>
            <a:r>
              <a:rPr lang="en-US" dirty="0"/>
              <a:t>The overall study of how light behaves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branch of optics that focuses on the creation of images is called geometric optics, because it is based on relationships between angles and lines that describe light rays.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optics. 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25" y="3352800"/>
            <a:ext cx="8926975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6152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562600" y="1295401"/>
            <a:ext cx="3429000" cy="5334000"/>
          </a:xfrm>
        </p:spPr>
        <p:txBody>
          <a:bodyPr>
            <a:normAutofit/>
          </a:bodyPr>
          <a:lstStyle/>
          <a:p>
            <a:r>
              <a:rPr lang="en-US" b="1" dirty="0"/>
              <a:t>(the ray reaching your eye doesn’t really come from the image</a:t>
            </a:r>
            <a:r>
              <a:rPr lang="en-US" b="1" dirty="0" smtClean="0"/>
              <a:t>).</a:t>
            </a:r>
            <a:r>
              <a:rPr lang="en-US" b="1" dirty="0"/>
              <a:t> But…. the brain thinks the ray came from the </a:t>
            </a:r>
            <a:r>
              <a:rPr lang="en-US" b="1" dirty="0" smtClean="0"/>
              <a:t>image</a:t>
            </a:r>
          </a:p>
          <a:p>
            <a:r>
              <a:rPr lang="en-US" dirty="0"/>
              <a:t>If light energy doesn't flow from the image, the image is "virtual".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Images Formed by Plane Mirrors</a:t>
            </a:r>
            <a:endParaRPr lang="en-US" dirty="0"/>
          </a:p>
        </p:txBody>
      </p:sp>
      <p:grpSp>
        <p:nvGrpSpPr>
          <p:cNvPr id="28" name="Group 27"/>
          <p:cNvGrpSpPr>
            <a:grpSpLocks/>
          </p:cNvGrpSpPr>
          <p:nvPr/>
        </p:nvGrpSpPr>
        <p:grpSpPr bwMode="auto">
          <a:xfrm>
            <a:off x="144345" y="1414464"/>
            <a:ext cx="4954114" cy="3433764"/>
            <a:chOff x="1137" y="1383"/>
            <a:chExt cx="3640" cy="2163"/>
          </a:xfrm>
        </p:grpSpPr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3024" y="1632"/>
              <a:ext cx="152" cy="1743"/>
            </a:xfrm>
            <a:prstGeom prst="rect">
              <a:avLst/>
            </a:prstGeom>
            <a:gradFill rotWithShape="0">
              <a:gsLst>
                <a:gs pos="0">
                  <a:srgbClr val="919191">
                    <a:gamma/>
                    <a:shade val="29804"/>
                    <a:invGamma/>
                  </a:srgbClr>
                </a:gs>
                <a:gs pos="100000">
                  <a:srgbClr val="91919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grpSp>
          <p:nvGrpSpPr>
            <p:cNvPr id="30" name="Group 29"/>
            <p:cNvGrpSpPr>
              <a:grpSpLocks/>
            </p:cNvGrpSpPr>
            <p:nvPr/>
          </p:nvGrpSpPr>
          <p:grpSpPr bwMode="auto">
            <a:xfrm>
              <a:off x="1137" y="3041"/>
              <a:ext cx="379" cy="505"/>
              <a:chOff x="1137" y="3041"/>
              <a:chExt cx="379" cy="505"/>
            </a:xfrm>
          </p:grpSpPr>
          <p:sp>
            <p:nvSpPr>
              <p:cNvPr id="49" name="Oval 48"/>
              <p:cNvSpPr>
                <a:spLocks noChangeArrowheads="1"/>
              </p:cNvSpPr>
              <p:nvPr/>
            </p:nvSpPr>
            <p:spPr bwMode="auto">
              <a:xfrm rot="19800000">
                <a:off x="1273" y="3118"/>
                <a:ext cx="136" cy="23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063DE8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0000"/>
                    </a:solidFill>
                    <a:latin typeface="Times New Roman" pitchFamily="18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0000"/>
                    </a:solidFill>
                    <a:latin typeface="Times New Roman" pitchFamily="18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0000"/>
                    </a:solidFill>
                    <a:latin typeface="Times New Roman" pitchFamily="18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0000"/>
                    </a:solidFill>
                    <a:latin typeface="Times New Roman" pitchFamily="18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0000"/>
                    </a:solidFill>
                    <a:latin typeface="Times New Roman" pitchFamily="18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b="1" kern="1200">
                    <a:solidFill>
                      <a:srgbClr val="000000"/>
                    </a:solidFill>
                    <a:latin typeface="Times New Roman" pitchFamily="18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b="1" kern="1200">
                    <a:solidFill>
                      <a:srgbClr val="000000"/>
                    </a:solidFill>
                    <a:latin typeface="Times New Roman" pitchFamily="18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b="1" kern="1200">
                    <a:solidFill>
                      <a:srgbClr val="000000"/>
                    </a:solidFill>
                    <a:latin typeface="Times New Roman" pitchFamily="18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b="1" kern="1200">
                    <a:solidFill>
                      <a:srgbClr val="000000"/>
                    </a:solidFill>
                    <a:latin typeface="Times New Roman" pitchFamily="18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50" name="Arc 5"/>
              <p:cNvSpPr>
                <a:spLocks/>
              </p:cNvSpPr>
              <p:nvPr/>
            </p:nvSpPr>
            <p:spPr bwMode="auto">
              <a:xfrm rot="19800000">
                <a:off x="1275" y="3306"/>
                <a:ext cx="241" cy="240"/>
              </a:xfrm>
              <a:custGeom>
                <a:avLst/>
                <a:gdLst>
                  <a:gd name="G0" fmla="+- 90 0 0"/>
                  <a:gd name="G1" fmla="+- 21600 0 0"/>
                  <a:gd name="G2" fmla="+- 21600 0 0"/>
                  <a:gd name="T0" fmla="*/ 0 w 21690"/>
                  <a:gd name="T1" fmla="*/ 0 h 21600"/>
                  <a:gd name="T2" fmla="*/ 21690 w 21690"/>
                  <a:gd name="T3" fmla="*/ 21600 h 21600"/>
                  <a:gd name="T4" fmla="*/ 90 w 2169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90" h="21600" fill="none" extrusionOk="0">
                    <a:moveTo>
                      <a:pt x="0" y="0"/>
                    </a:moveTo>
                    <a:cubicBezTo>
                      <a:pt x="30" y="0"/>
                      <a:pt x="60" y="-1"/>
                      <a:pt x="90" y="0"/>
                    </a:cubicBezTo>
                    <a:cubicBezTo>
                      <a:pt x="12019" y="0"/>
                      <a:pt x="21690" y="9670"/>
                      <a:pt x="21690" y="21600"/>
                    </a:cubicBezTo>
                  </a:path>
                  <a:path w="21690" h="21600" stroke="0" extrusionOk="0">
                    <a:moveTo>
                      <a:pt x="0" y="0"/>
                    </a:moveTo>
                    <a:cubicBezTo>
                      <a:pt x="30" y="0"/>
                      <a:pt x="60" y="-1"/>
                      <a:pt x="90" y="0"/>
                    </a:cubicBezTo>
                    <a:cubicBezTo>
                      <a:pt x="12019" y="0"/>
                      <a:pt x="21690" y="9670"/>
                      <a:pt x="21690" y="21600"/>
                    </a:cubicBezTo>
                    <a:lnTo>
                      <a:pt x="90" y="21600"/>
                    </a:lnTo>
                    <a:close/>
                  </a:path>
                </a:pathLst>
              </a:custGeom>
              <a:noFill/>
              <a:ln w="12700" cap="rnd">
                <a:solidFill>
                  <a:srgbClr val="063DE8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0000"/>
                    </a:solidFill>
                    <a:latin typeface="Times New Roman" pitchFamily="18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0000"/>
                    </a:solidFill>
                    <a:latin typeface="Times New Roman" pitchFamily="18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0000"/>
                    </a:solidFill>
                    <a:latin typeface="Times New Roman" pitchFamily="18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0000"/>
                    </a:solidFill>
                    <a:latin typeface="Times New Roman" pitchFamily="18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0000"/>
                    </a:solidFill>
                    <a:latin typeface="Times New Roman" pitchFamily="18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b="1" kern="1200">
                    <a:solidFill>
                      <a:srgbClr val="000000"/>
                    </a:solidFill>
                    <a:latin typeface="Times New Roman" pitchFamily="18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b="1" kern="1200">
                    <a:solidFill>
                      <a:srgbClr val="000000"/>
                    </a:solidFill>
                    <a:latin typeface="Times New Roman" pitchFamily="18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b="1" kern="1200">
                    <a:solidFill>
                      <a:srgbClr val="000000"/>
                    </a:solidFill>
                    <a:latin typeface="Times New Roman" pitchFamily="18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b="1" kern="1200">
                    <a:solidFill>
                      <a:srgbClr val="000000"/>
                    </a:solidFill>
                    <a:latin typeface="Times New Roman" pitchFamily="18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51" name="Arc 6"/>
              <p:cNvSpPr>
                <a:spLocks/>
              </p:cNvSpPr>
              <p:nvPr/>
            </p:nvSpPr>
            <p:spPr bwMode="auto">
              <a:xfrm rot="19800000">
                <a:off x="1137" y="3041"/>
                <a:ext cx="240" cy="96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600"/>
                  <a:gd name="T2" fmla="*/ 0 w 21600"/>
                  <a:gd name="T3" fmla="*/ 21600 h 21600"/>
                  <a:gd name="T4" fmla="*/ 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rnd">
                <a:solidFill>
                  <a:srgbClr val="063DE8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0000"/>
                    </a:solidFill>
                    <a:latin typeface="Times New Roman" pitchFamily="18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0000"/>
                    </a:solidFill>
                    <a:latin typeface="Times New Roman" pitchFamily="18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0000"/>
                    </a:solidFill>
                    <a:latin typeface="Times New Roman" pitchFamily="18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0000"/>
                    </a:solidFill>
                    <a:latin typeface="Times New Roman" pitchFamily="18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0000"/>
                    </a:solidFill>
                    <a:latin typeface="Times New Roman" pitchFamily="18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b="1" kern="1200">
                    <a:solidFill>
                      <a:srgbClr val="000000"/>
                    </a:solidFill>
                    <a:latin typeface="Times New Roman" pitchFamily="18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b="1" kern="1200">
                    <a:solidFill>
                      <a:srgbClr val="000000"/>
                    </a:solidFill>
                    <a:latin typeface="Times New Roman" pitchFamily="18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b="1" kern="1200">
                    <a:solidFill>
                      <a:srgbClr val="000000"/>
                    </a:solidFill>
                    <a:latin typeface="Times New Roman" pitchFamily="18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b="1" kern="1200">
                    <a:solidFill>
                      <a:srgbClr val="000000"/>
                    </a:solidFill>
                    <a:latin typeface="Times New Roman" pitchFamily="18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31" name="Oval 30"/>
            <p:cNvSpPr>
              <a:spLocks noChangeArrowheads="1"/>
            </p:cNvSpPr>
            <p:nvPr/>
          </p:nvSpPr>
          <p:spPr bwMode="auto">
            <a:xfrm>
              <a:off x="1665" y="1849"/>
              <a:ext cx="207" cy="24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2" name="Line 9"/>
            <p:cNvSpPr>
              <a:spLocks noChangeShapeType="1"/>
            </p:cNvSpPr>
            <p:nvPr/>
          </p:nvSpPr>
          <p:spPr bwMode="auto">
            <a:xfrm>
              <a:off x="1872" y="1968"/>
              <a:ext cx="1152" cy="480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3" name="Line 10"/>
            <p:cNvSpPr>
              <a:spLocks noChangeShapeType="1"/>
            </p:cNvSpPr>
            <p:nvPr/>
          </p:nvSpPr>
          <p:spPr bwMode="auto">
            <a:xfrm flipH="1">
              <a:off x="1488" y="2448"/>
              <a:ext cx="1536" cy="720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4" name="Line 11"/>
            <p:cNvSpPr>
              <a:spLocks noChangeShapeType="1"/>
            </p:cNvSpPr>
            <p:nvPr/>
          </p:nvSpPr>
          <p:spPr bwMode="auto">
            <a:xfrm flipV="1">
              <a:off x="3024" y="2012"/>
              <a:ext cx="967" cy="436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5" name="Line 12"/>
            <p:cNvSpPr>
              <a:spLocks noChangeShapeType="1"/>
            </p:cNvSpPr>
            <p:nvPr/>
          </p:nvSpPr>
          <p:spPr bwMode="auto">
            <a:xfrm>
              <a:off x="1873" y="1923"/>
              <a:ext cx="1151" cy="141"/>
            </a:xfrm>
            <a:prstGeom prst="line">
              <a:avLst/>
            </a:prstGeom>
            <a:noFill/>
            <a:ln w="12700">
              <a:solidFill>
                <a:srgbClr val="063DE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6" name="Line 13"/>
            <p:cNvSpPr>
              <a:spLocks noChangeShapeType="1"/>
            </p:cNvSpPr>
            <p:nvPr/>
          </p:nvSpPr>
          <p:spPr bwMode="auto">
            <a:xfrm flipH="1">
              <a:off x="1584" y="2064"/>
              <a:ext cx="1440" cy="336"/>
            </a:xfrm>
            <a:prstGeom prst="line">
              <a:avLst/>
            </a:prstGeom>
            <a:noFill/>
            <a:ln w="12700">
              <a:solidFill>
                <a:srgbClr val="063DE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7" name="Line 14"/>
            <p:cNvSpPr>
              <a:spLocks noChangeShapeType="1"/>
            </p:cNvSpPr>
            <p:nvPr/>
          </p:nvSpPr>
          <p:spPr bwMode="auto">
            <a:xfrm>
              <a:off x="1858" y="2041"/>
              <a:ext cx="1170" cy="860"/>
            </a:xfrm>
            <a:prstGeom prst="line">
              <a:avLst/>
            </a:prstGeom>
            <a:noFill/>
            <a:ln w="12700">
              <a:solidFill>
                <a:srgbClr val="063DE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8" name="Line 15"/>
            <p:cNvSpPr>
              <a:spLocks noChangeShapeType="1"/>
            </p:cNvSpPr>
            <p:nvPr/>
          </p:nvSpPr>
          <p:spPr bwMode="auto">
            <a:xfrm flipH="1">
              <a:off x="2352" y="2880"/>
              <a:ext cx="672" cy="624"/>
            </a:xfrm>
            <a:prstGeom prst="line">
              <a:avLst/>
            </a:prstGeom>
            <a:noFill/>
            <a:ln w="12700">
              <a:solidFill>
                <a:srgbClr val="063DE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9" name="Rectangle 38"/>
            <p:cNvSpPr>
              <a:spLocks noChangeArrowheads="1"/>
            </p:cNvSpPr>
            <p:nvPr/>
          </p:nvSpPr>
          <p:spPr bwMode="auto">
            <a:xfrm>
              <a:off x="1287" y="1383"/>
              <a:ext cx="615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rgbClr val="000099"/>
                  </a:solidFill>
                </a:rPr>
                <a:t>object</a:t>
              </a:r>
            </a:p>
          </p:txBody>
        </p:sp>
        <p:sp>
          <p:nvSpPr>
            <p:cNvPr id="40" name="Rectangle 39"/>
            <p:cNvSpPr>
              <a:spLocks noChangeArrowheads="1"/>
            </p:cNvSpPr>
            <p:nvPr/>
          </p:nvSpPr>
          <p:spPr bwMode="auto">
            <a:xfrm>
              <a:off x="4023" y="1431"/>
              <a:ext cx="604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rgbClr val="FC0128"/>
                  </a:solidFill>
                </a:rPr>
                <a:t>image</a:t>
              </a:r>
            </a:p>
          </p:txBody>
        </p:sp>
        <p:sp>
          <p:nvSpPr>
            <p:cNvPr id="41" name="Rectangle 40"/>
            <p:cNvSpPr>
              <a:spLocks noChangeArrowheads="1"/>
            </p:cNvSpPr>
            <p:nvPr/>
          </p:nvSpPr>
          <p:spPr bwMode="auto">
            <a:xfrm>
              <a:off x="3426" y="2340"/>
              <a:ext cx="1351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r>
                <a:rPr lang="en-US" sz="2800" i="1" dirty="0">
                  <a:solidFill>
                    <a:schemeClr val="tx1"/>
                  </a:solidFill>
                </a:rPr>
                <a:t>virtual image</a:t>
              </a:r>
            </a:p>
          </p:txBody>
        </p:sp>
        <p:sp>
          <p:nvSpPr>
            <p:cNvPr id="42" name="Oval 41"/>
            <p:cNvSpPr>
              <a:spLocks noChangeArrowheads="1"/>
            </p:cNvSpPr>
            <p:nvPr/>
          </p:nvSpPr>
          <p:spPr bwMode="auto">
            <a:xfrm rot="20040000">
              <a:off x="1339" y="3182"/>
              <a:ext cx="60" cy="119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3" name="Oval 42"/>
            <p:cNvSpPr>
              <a:spLocks noChangeArrowheads="1"/>
            </p:cNvSpPr>
            <p:nvPr/>
          </p:nvSpPr>
          <p:spPr bwMode="auto">
            <a:xfrm>
              <a:off x="3998" y="1856"/>
              <a:ext cx="207" cy="24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4" name="Line 22"/>
            <p:cNvSpPr>
              <a:spLocks noChangeShapeType="1"/>
            </p:cNvSpPr>
            <p:nvPr/>
          </p:nvSpPr>
          <p:spPr bwMode="auto">
            <a:xfrm>
              <a:off x="2228" y="1967"/>
              <a:ext cx="341" cy="45"/>
            </a:xfrm>
            <a:prstGeom prst="line">
              <a:avLst/>
            </a:prstGeom>
            <a:noFill/>
            <a:ln w="12700">
              <a:solidFill>
                <a:srgbClr val="063DE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5" name="Line 23"/>
            <p:cNvSpPr>
              <a:spLocks noChangeShapeType="1"/>
            </p:cNvSpPr>
            <p:nvPr/>
          </p:nvSpPr>
          <p:spPr bwMode="auto">
            <a:xfrm>
              <a:off x="1998" y="2033"/>
              <a:ext cx="319" cy="112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6" name="Line 24"/>
            <p:cNvSpPr>
              <a:spLocks noChangeShapeType="1"/>
            </p:cNvSpPr>
            <p:nvPr/>
          </p:nvSpPr>
          <p:spPr bwMode="auto">
            <a:xfrm>
              <a:off x="2612" y="2277"/>
              <a:ext cx="283" cy="120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7" name="Line 25"/>
            <p:cNvSpPr>
              <a:spLocks noChangeShapeType="1"/>
            </p:cNvSpPr>
            <p:nvPr/>
          </p:nvSpPr>
          <p:spPr bwMode="auto">
            <a:xfrm flipH="1">
              <a:off x="2065" y="2753"/>
              <a:ext cx="311" cy="148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8" name="Line 27"/>
            <p:cNvSpPr>
              <a:spLocks noChangeShapeType="1"/>
            </p:cNvSpPr>
            <p:nvPr/>
          </p:nvSpPr>
          <p:spPr bwMode="auto">
            <a:xfrm>
              <a:off x="3013" y="1627"/>
              <a:ext cx="0" cy="1763"/>
            </a:xfrm>
            <a:prstGeom prst="line">
              <a:avLst/>
            </a:prstGeom>
            <a:noFill/>
            <a:ln w="50800">
              <a:solidFill>
                <a:srgbClr val="EF91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51774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43000"/>
            <a:ext cx="4724400" cy="4864291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dirty="0"/>
              <a:t>The image is as far behind the mirror as the object is in front.</a:t>
            </a:r>
          </a:p>
          <a:p>
            <a:pPr fontAlgn="base"/>
            <a:r>
              <a:rPr lang="en-US" dirty="0" smtClean="0"/>
              <a:t>So= Si</a:t>
            </a:r>
            <a:endParaRPr lang="en-US" dirty="0"/>
          </a:p>
          <a:p>
            <a:pPr fontAlgn="base"/>
            <a:r>
              <a:rPr lang="en-US" dirty="0"/>
              <a:t>The image is unmagnified.</a:t>
            </a:r>
          </a:p>
          <a:p>
            <a:pPr fontAlgn="base"/>
            <a:r>
              <a:rPr lang="en-US" dirty="0" smtClean="0"/>
              <a:t>The </a:t>
            </a:r>
            <a:r>
              <a:rPr lang="en-US" dirty="0"/>
              <a:t>image is virtual.</a:t>
            </a:r>
          </a:p>
          <a:p>
            <a:pPr fontAlgn="base"/>
            <a:r>
              <a:rPr lang="en-US" dirty="0"/>
              <a:t>The image is </a:t>
            </a:r>
            <a:r>
              <a:rPr lang="en-US" dirty="0" smtClean="0"/>
              <a:t>upright. It </a:t>
            </a:r>
            <a:r>
              <a:rPr lang="en-US" dirty="0"/>
              <a:t>has the same orientation as the object.</a:t>
            </a:r>
          </a:p>
          <a:p>
            <a:pPr fontAlgn="base"/>
            <a:r>
              <a:rPr lang="en-US" dirty="0"/>
              <a:t>There is a front-back reversal in the image.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Properties of the Image Formed by a </a:t>
            </a:r>
            <a:r>
              <a:rPr lang="en-US" dirty="0" smtClean="0">
                <a:effectLst/>
              </a:rPr>
              <a:t>plane  </a:t>
            </a:r>
            <a:r>
              <a:rPr lang="en-US" dirty="0">
                <a:effectLst/>
              </a:rPr>
              <a:t>Mirror </a:t>
            </a:r>
            <a:r>
              <a:rPr lang="en-US" dirty="0" smtClean="0">
                <a:effectLst/>
              </a:rPr>
              <a:t> </a:t>
            </a:r>
            <a:endParaRPr lang="en-US" dirty="0"/>
          </a:p>
        </p:txBody>
      </p:sp>
      <p:pic>
        <p:nvPicPr>
          <p:cNvPr id="4" name="Picture 5" descr="http://sol.sci.uop.edu/~jfalward/physics17/chapter12/leftrightpers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355" y="3276600"/>
            <a:ext cx="3733800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 rot="10800000" flipH="1" flipV="1">
            <a:off x="5212354" y="1752600"/>
            <a:ext cx="3931645" cy="92333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perspectiveFront">
                <a:rot lat="0" lon="10800000" rev="0"/>
              </a:camera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ea typeface="ＭＳ Ｐゴシック" pitchFamily="1" charset="-128"/>
              </a:rPr>
              <a:t>AMBULANCE</a:t>
            </a:r>
          </a:p>
        </p:txBody>
      </p:sp>
    </p:spTree>
    <p:extLst>
      <p:ext uri="{BB962C8B-B14F-4D97-AF65-F5344CB8AC3E}">
        <p14:creationId xmlns:p14="http://schemas.microsoft.com/office/powerpoint/2010/main" val="1092977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4114800" cy="4525963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The three basic light rays used in ray tracing:</a:t>
            </a:r>
          </a:p>
          <a:p>
            <a:pPr marL="109728" indent="0">
              <a:buNone/>
            </a:pPr>
            <a:r>
              <a:rPr lang="en-US" sz="2400" dirty="0" smtClean="0"/>
              <a:t>1. A </a:t>
            </a:r>
            <a:r>
              <a:rPr lang="en-US" sz="2400" dirty="0"/>
              <a:t>ray which leaves the object parallel to the axis, </a:t>
            </a:r>
            <a:br>
              <a:rPr lang="en-US" sz="2400" dirty="0"/>
            </a:br>
            <a:r>
              <a:rPr lang="en-US" sz="2400" dirty="0"/>
              <a:t>is refracted to pass through the focal point (P).</a:t>
            </a:r>
          </a:p>
          <a:p>
            <a:pPr marL="109728" indent="0">
              <a:buNone/>
            </a:pPr>
            <a:r>
              <a:rPr lang="en-US" sz="2400" dirty="0"/>
              <a:t>2. A ray which passes through the lens’s center is </a:t>
            </a:r>
            <a:br>
              <a:rPr lang="en-US" sz="2400" dirty="0"/>
            </a:br>
            <a:r>
              <a:rPr lang="en-US" sz="2400" dirty="0" smtClean="0"/>
              <a:t>un deflected </a:t>
            </a:r>
            <a:r>
              <a:rPr lang="en-US" sz="2400" dirty="0"/>
              <a:t>(M).</a:t>
            </a:r>
          </a:p>
          <a:p>
            <a:pPr marL="109728" indent="0">
              <a:buNone/>
            </a:pPr>
            <a:r>
              <a:rPr lang="en-US" sz="2400" dirty="0"/>
              <a:t>3. A ray passing through the focal point (as shown)</a:t>
            </a:r>
            <a:br>
              <a:rPr lang="en-US" sz="2400" dirty="0"/>
            </a:br>
            <a:r>
              <a:rPr lang="en-US" sz="2400" dirty="0"/>
              <a:t>is refracted to end up parallel to the axis (F).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Images formed by Lenses</a:t>
            </a:r>
          </a:p>
        </p:txBody>
      </p:sp>
      <p:pic>
        <p:nvPicPr>
          <p:cNvPr id="4" name="Picture 3" descr="FG26_3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524000"/>
            <a:ext cx="34290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FG26_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4095750"/>
            <a:ext cx="33528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8067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Lenses are commonly used to form images</a:t>
            </a:r>
            <a:br>
              <a:rPr lang="en-US" dirty="0"/>
            </a:br>
            <a:r>
              <a:rPr lang="en-US" dirty="0"/>
              <a:t>by refraction</a:t>
            </a:r>
            <a:br>
              <a:rPr lang="en-US" dirty="0"/>
            </a:br>
            <a:r>
              <a:rPr lang="en-US" dirty="0"/>
              <a:t>– All is a result of Snell’s law and can be derived</a:t>
            </a:r>
            <a:br>
              <a:rPr lang="en-US" dirty="0"/>
            </a:br>
            <a:r>
              <a:rPr lang="en-US" dirty="0"/>
              <a:t>from that.</a:t>
            </a:r>
            <a:br>
              <a:rPr lang="en-US" dirty="0"/>
            </a:br>
            <a:r>
              <a:rPr lang="en-US" dirty="0"/>
              <a:t>• Lenses are used in optical instruments</a:t>
            </a:r>
            <a:br>
              <a:rPr lang="en-US" dirty="0"/>
            </a:br>
            <a:r>
              <a:rPr lang="en-US" dirty="0"/>
              <a:t>– Cameras</a:t>
            </a:r>
            <a:br>
              <a:rPr lang="en-US" dirty="0"/>
            </a:br>
            <a:r>
              <a:rPr lang="en-US" dirty="0"/>
              <a:t>– Telescopes</a:t>
            </a:r>
            <a:br>
              <a:rPr lang="en-US" dirty="0"/>
            </a:br>
            <a:r>
              <a:rPr lang="en-US" dirty="0"/>
              <a:t>– Microscopes </a:t>
            </a:r>
            <a:br>
              <a:rPr lang="en-US" dirty="0"/>
            </a:b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Lenses</a:t>
            </a:r>
          </a:p>
        </p:txBody>
      </p:sp>
    </p:spTree>
    <p:extLst>
      <p:ext uri="{BB962C8B-B14F-4D97-AF65-F5344CB8AC3E}">
        <p14:creationId xmlns:p14="http://schemas.microsoft.com/office/powerpoint/2010/main" val="2849472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1000" y="533400"/>
            <a:ext cx="8229600" cy="381000"/>
          </a:xfrm>
        </p:spPr>
        <p:txBody>
          <a:bodyPr>
            <a:normAutofit fontScale="90000"/>
          </a:bodyPr>
          <a:lstStyle/>
          <a:p>
            <a:r>
              <a:rPr lang="en-US" dirty="0"/>
              <a:t>Images Formed by a Convex </a:t>
            </a:r>
            <a:r>
              <a:rPr lang="en-US" dirty="0" smtClean="0"/>
              <a:t>(</a:t>
            </a:r>
            <a:r>
              <a:rPr lang="en-US" dirty="0"/>
              <a:t>Converging </a:t>
            </a:r>
            <a:r>
              <a:rPr lang="en-US" dirty="0" smtClean="0"/>
              <a:t>)Lens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grpSp>
        <p:nvGrpSpPr>
          <p:cNvPr id="41" name="Group 40"/>
          <p:cNvGrpSpPr>
            <a:grpSpLocks/>
          </p:cNvGrpSpPr>
          <p:nvPr/>
        </p:nvGrpSpPr>
        <p:grpSpPr bwMode="auto">
          <a:xfrm>
            <a:off x="338931" y="1262857"/>
            <a:ext cx="8466119" cy="4614865"/>
            <a:chOff x="283" y="1005"/>
            <a:chExt cx="5333" cy="3085"/>
          </a:xfrm>
        </p:grpSpPr>
        <p:sp>
          <p:nvSpPr>
            <p:cNvPr id="42" name="Oval 41"/>
            <p:cNvSpPr>
              <a:spLocks noChangeArrowheads="1"/>
            </p:cNvSpPr>
            <p:nvPr/>
          </p:nvSpPr>
          <p:spPr bwMode="auto">
            <a:xfrm>
              <a:off x="1622" y="1041"/>
              <a:ext cx="149" cy="6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43" name="Line 5"/>
            <p:cNvSpPr>
              <a:spLocks noChangeShapeType="1"/>
            </p:cNvSpPr>
            <p:nvPr/>
          </p:nvSpPr>
          <p:spPr bwMode="auto">
            <a:xfrm>
              <a:off x="346" y="1380"/>
              <a:ext cx="4872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44" name="Line 6"/>
            <p:cNvSpPr>
              <a:spLocks noChangeShapeType="1"/>
            </p:cNvSpPr>
            <p:nvPr/>
          </p:nvSpPr>
          <p:spPr bwMode="auto">
            <a:xfrm>
              <a:off x="966" y="1081"/>
              <a:ext cx="729" cy="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45" name="Line 7"/>
            <p:cNvSpPr>
              <a:spLocks noChangeShapeType="1"/>
            </p:cNvSpPr>
            <p:nvPr/>
          </p:nvSpPr>
          <p:spPr bwMode="auto">
            <a:xfrm>
              <a:off x="1686" y="1081"/>
              <a:ext cx="1848" cy="10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46" name="AutoShape 8"/>
            <p:cNvSpPr>
              <a:spLocks noChangeArrowheads="1"/>
            </p:cNvSpPr>
            <p:nvPr/>
          </p:nvSpPr>
          <p:spPr bwMode="auto">
            <a:xfrm rot="16200000">
              <a:off x="830" y="1189"/>
              <a:ext cx="280" cy="112"/>
            </a:xfrm>
            <a:prstGeom prst="rightArrow">
              <a:avLst>
                <a:gd name="adj1" fmla="val 50000"/>
                <a:gd name="adj2" fmla="val 125012"/>
              </a:avLst>
            </a:prstGeom>
            <a:solidFill>
              <a:srgbClr val="FF3300"/>
            </a:solidFill>
            <a:ln w="12700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algn="ctr"/>
              <a:endParaRPr lang="en-US">
                <a:solidFill>
                  <a:srgbClr val="FF3300"/>
                </a:solidFill>
              </a:endParaRPr>
            </a:p>
          </p:txBody>
        </p:sp>
        <p:sp>
          <p:nvSpPr>
            <p:cNvPr id="47" name="Line 9"/>
            <p:cNvSpPr>
              <a:spLocks noChangeShapeType="1"/>
            </p:cNvSpPr>
            <p:nvPr/>
          </p:nvSpPr>
          <p:spPr bwMode="auto">
            <a:xfrm>
              <a:off x="966" y="1097"/>
              <a:ext cx="2864" cy="10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48" name="AutoShape 10"/>
            <p:cNvSpPr>
              <a:spLocks noChangeArrowheads="1"/>
            </p:cNvSpPr>
            <p:nvPr/>
          </p:nvSpPr>
          <p:spPr bwMode="auto">
            <a:xfrm rot="16200000" flipH="1">
              <a:off x="2874" y="1589"/>
              <a:ext cx="527" cy="112"/>
            </a:xfrm>
            <a:prstGeom prst="rightArrow">
              <a:avLst>
                <a:gd name="adj1" fmla="val 50000"/>
                <a:gd name="adj2" fmla="val 235290"/>
              </a:avLst>
            </a:prstGeom>
            <a:solidFill>
              <a:srgbClr val="FF3300"/>
            </a:solidFill>
            <a:ln w="12700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49" name="Oval 48"/>
            <p:cNvSpPr>
              <a:spLocks noChangeArrowheads="1"/>
            </p:cNvSpPr>
            <p:nvPr/>
          </p:nvSpPr>
          <p:spPr bwMode="auto">
            <a:xfrm>
              <a:off x="2182" y="1367"/>
              <a:ext cx="22" cy="28"/>
            </a:xfrm>
            <a:prstGeom prst="ellipse">
              <a:avLst/>
            </a:prstGeom>
            <a:solidFill>
              <a:srgbClr val="618FFD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50" name="Oval 49"/>
            <p:cNvSpPr>
              <a:spLocks noChangeArrowheads="1"/>
            </p:cNvSpPr>
            <p:nvPr/>
          </p:nvSpPr>
          <p:spPr bwMode="auto">
            <a:xfrm>
              <a:off x="2624" y="1367"/>
              <a:ext cx="22" cy="28"/>
            </a:xfrm>
            <a:prstGeom prst="ellipse">
              <a:avLst/>
            </a:prstGeom>
            <a:solidFill>
              <a:srgbClr val="618FFD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51" name="Oval 50"/>
            <p:cNvSpPr>
              <a:spLocks noChangeArrowheads="1"/>
            </p:cNvSpPr>
            <p:nvPr/>
          </p:nvSpPr>
          <p:spPr bwMode="auto">
            <a:xfrm>
              <a:off x="1190" y="1373"/>
              <a:ext cx="22" cy="28"/>
            </a:xfrm>
            <a:prstGeom prst="ellipse">
              <a:avLst/>
            </a:prstGeom>
            <a:solidFill>
              <a:srgbClr val="618FFD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52" name="Oval 51"/>
            <p:cNvSpPr>
              <a:spLocks noChangeArrowheads="1"/>
            </p:cNvSpPr>
            <p:nvPr/>
          </p:nvSpPr>
          <p:spPr bwMode="auto">
            <a:xfrm>
              <a:off x="766" y="1365"/>
              <a:ext cx="22" cy="28"/>
            </a:xfrm>
            <a:prstGeom prst="ellipse">
              <a:avLst/>
            </a:prstGeom>
            <a:solidFill>
              <a:srgbClr val="618FFD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53" name="Rectangle 52"/>
            <p:cNvSpPr>
              <a:spLocks noChangeArrowheads="1"/>
            </p:cNvSpPr>
            <p:nvPr/>
          </p:nvSpPr>
          <p:spPr bwMode="auto">
            <a:xfrm>
              <a:off x="625" y="1478"/>
              <a:ext cx="334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2f</a:t>
              </a:r>
            </a:p>
          </p:txBody>
        </p:sp>
        <p:sp>
          <p:nvSpPr>
            <p:cNvPr id="54" name="Rectangle 53"/>
            <p:cNvSpPr>
              <a:spLocks noChangeArrowheads="1"/>
            </p:cNvSpPr>
            <p:nvPr/>
          </p:nvSpPr>
          <p:spPr bwMode="auto">
            <a:xfrm>
              <a:off x="2485" y="1040"/>
              <a:ext cx="334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2f</a:t>
              </a:r>
            </a:p>
          </p:txBody>
        </p:sp>
        <p:sp>
          <p:nvSpPr>
            <p:cNvPr id="55" name="Rectangle 54"/>
            <p:cNvSpPr>
              <a:spLocks noChangeArrowheads="1"/>
            </p:cNvSpPr>
            <p:nvPr/>
          </p:nvSpPr>
          <p:spPr bwMode="auto">
            <a:xfrm>
              <a:off x="1117" y="1472"/>
              <a:ext cx="262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f</a:t>
              </a:r>
            </a:p>
          </p:txBody>
        </p:sp>
        <p:sp>
          <p:nvSpPr>
            <p:cNvPr id="56" name="Rectangle 55"/>
            <p:cNvSpPr>
              <a:spLocks noChangeArrowheads="1"/>
            </p:cNvSpPr>
            <p:nvPr/>
          </p:nvSpPr>
          <p:spPr bwMode="auto">
            <a:xfrm>
              <a:off x="2107" y="1064"/>
              <a:ext cx="262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f</a:t>
              </a:r>
            </a:p>
          </p:txBody>
        </p:sp>
        <p:sp>
          <p:nvSpPr>
            <p:cNvPr id="57" name="Oval 56"/>
            <p:cNvSpPr>
              <a:spLocks noChangeArrowheads="1"/>
            </p:cNvSpPr>
            <p:nvPr/>
          </p:nvSpPr>
          <p:spPr bwMode="auto">
            <a:xfrm>
              <a:off x="1645" y="2751"/>
              <a:ext cx="149" cy="6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58" name="Line 20"/>
            <p:cNvSpPr>
              <a:spLocks noChangeShapeType="1"/>
            </p:cNvSpPr>
            <p:nvPr/>
          </p:nvSpPr>
          <p:spPr bwMode="auto">
            <a:xfrm>
              <a:off x="369" y="3090"/>
              <a:ext cx="4872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59" name="Line 21"/>
            <p:cNvSpPr>
              <a:spLocks noChangeShapeType="1"/>
            </p:cNvSpPr>
            <p:nvPr/>
          </p:nvSpPr>
          <p:spPr bwMode="auto">
            <a:xfrm>
              <a:off x="1301" y="2794"/>
              <a:ext cx="417" cy="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60" name="Line 22"/>
            <p:cNvSpPr>
              <a:spLocks noChangeShapeType="1"/>
            </p:cNvSpPr>
            <p:nvPr/>
          </p:nvSpPr>
          <p:spPr bwMode="auto">
            <a:xfrm>
              <a:off x="1709" y="2791"/>
              <a:ext cx="1848" cy="10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61" name="AutoShape 23"/>
            <p:cNvSpPr>
              <a:spLocks noChangeArrowheads="1"/>
            </p:cNvSpPr>
            <p:nvPr/>
          </p:nvSpPr>
          <p:spPr bwMode="auto">
            <a:xfrm rot="16200000">
              <a:off x="1165" y="2889"/>
              <a:ext cx="280" cy="112"/>
            </a:xfrm>
            <a:prstGeom prst="rightArrow">
              <a:avLst>
                <a:gd name="adj1" fmla="val 50000"/>
                <a:gd name="adj2" fmla="val 125012"/>
              </a:avLst>
            </a:prstGeom>
            <a:solidFill>
              <a:srgbClr val="FF3300"/>
            </a:solidFill>
            <a:ln w="12700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62" name="AutoShape 24"/>
            <p:cNvSpPr>
              <a:spLocks noChangeArrowheads="1"/>
            </p:cNvSpPr>
            <p:nvPr/>
          </p:nvSpPr>
          <p:spPr bwMode="auto">
            <a:xfrm rot="16200000">
              <a:off x="-184" y="2509"/>
              <a:ext cx="1051" cy="118"/>
            </a:xfrm>
            <a:prstGeom prst="rightArrow">
              <a:avLst>
                <a:gd name="adj1" fmla="val 50000"/>
                <a:gd name="adj2" fmla="val 445380"/>
              </a:avLst>
            </a:prstGeom>
            <a:solidFill>
              <a:srgbClr val="FF3300"/>
            </a:solidFill>
            <a:ln w="12700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63" name="Oval 62"/>
            <p:cNvSpPr>
              <a:spLocks noChangeArrowheads="1"/>
            </p:cNvSpPr>
            <p:nvPr/>
          </p:nvSpPr>
          <p:spPr bwMode="auto">
            <a:xfrm>
              <a:off x="2205" y="3077"/>
              <a:ext cx="22" cy="28"/>
            </a:xfrm>
            <a:prstGeom prst="ellipse">
              <a:avLst/>
            </a:prstGeom>
            <a:solidFill>
              <a:srgbClr val="618FFD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64" name="Oval 63"/>
            <p:cNvSpPr>
              <a:spLocks noChangeArrowheads="1"/>
            </p:cNvSpPr>
            <p:nvPr/>
          </p:nvSpPr>
          <p:spPr bwMode="auto">
            <a:xfrm>
              <a:off x="2647" y="3077"/>
              <a:ext cx="22" cy="28"/>
            </a:xfrm>
            <a:prstGeom prst="ellipse">
              <a:avLst/>
            </a:prstGeom>
            <a:solidFill>
              <a:srgbClr val="618FFD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65" name="Oval 64"/>
            <p:cNvSpPr>
              <a:spLocks noChangeArrowheads="1"/>
            </p:cNvSpPr>
            <p:nvPr/>
          </p:nvSpPr>
          <p:spPr bwMode="auto">
            <a:xfrm>
              <a:off x="1213" y="3083"/>
              <a:ext cx="22" cy="28"/>
            </a:xfrm>
            <a:prstGeom prst="ellipse">
              <a:avLst/>
            </a:prstGeom>
            <a:solidFill>
              <a:srgbClr val="618FFD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66" name="Oval 65"/>
            <p:cNvSpPr>
              <a:spLocks noChangeArrowheads="1"/>
            </p:cNvSpPr>
            <p:nvPr/>
          </p:nvSpPr>
          <p:spPr bwMode="auto">
            <a:xfrm>
              <a:off x="789" y="3075"/>
              <a:ext cx="22" cy="28"/>
            </a:xfrm>
            <a:prstGeom prst="ellipse">
              <a:avLst/>
            </a:prstGeom>
            <a:solidFill>
              <a:srgbClr val="618FFD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67" name="Rectangle 66"/>
            <p:cNvSpPr>
              <a:spLocks noChangeArrowheads="1"/>
            </p:cNvSpPr>
            <p:nvPr/>
          </p:nvSpPr>
          <p:spPr bwMode="auto">
            <a:xfrm>
              <a:off x="648" y="3188"/>
              <a:ext cx="334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2f</a:t>
              </a:r>
            </a:p>
          </p:txBody>
        </p:sp>
        <p:sp>
          <p:nvSpPr>
            <p:cNvPr id="68" name="Rectangle 67"/>
            <p:cNvSpPr>
              <a:spLocks noChangeArrowheads="1"/>
            </p:cNvSpPr>
            <p:nvPr/>
          </p:nvSpPr>
          <p:spPr bwMode="auto">
            <a:xfrm>
              <a:off x="2508" y="2750"/>
              <a:ext cx="334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2f</a:t>
              </a:r>
            </a:p>
          </p:txBody>
        </p:sp>
        <p:sp>
          <p:nvSpPr>
            <p:cNvPr id="69" name="Rectangle 68"/>
            <p:cNvSpPr>
              <a:spLocks noChangeArrowheads="1"/>
            </p:cNvSpPr>
            <p:nvPr/>
          </p:nvSpPr>
          <p:spPr bwMode="auto">
            <a:xfrm>
              <a:off x="1140" y="3182"/>
              <a:ext cx="262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f</a:t>
              </a:r>
            </a:p>
          </p:txBody>
        </p:sp>
        <p:sp>
          <p:nvSpPr>
            <p:cNvPr id="70" name="Rectangle 69"/>
            <p:cNvSpPr>
              <a:spLocks noChangeArrowheads="1"/>
            </p:cNvSpPr>
            <p:nvPr/>
          </p:nvSpPr>
          <p:spPr bwMode="auto">
            <a:xfrm>
              <a:off x="2130" y="2774"/>
              <a:ext cx="262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f</a:t>
              </a:r>
            </a:p>
          </p:txBody>
        </p:sp>
        <p:sp>
          <p:nvSpPr>
            <p:cNvPr id="71" name="Line 33"/>
            <p:cNvSpPr>
              <a:spLocks noChangeShapeType="1"/>
            </p:cNvSpPr>
            <p:nvPr/>
          </p:nvSpPr>
          <p:spPr bwMode="auto">
            <a:xfrm>
              <a:off x="1309" y="2794"/>
              <a:ext cx="1720" cy="12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72" name="Line 34"/>
            <p:cNvSpPr>
              <a:spLocks noChangeShapeType="1"/>
            </p:cNvSpPr>
            <p:nvPr/>
          </p:nvSpPr>
          <p:spPr bwMode="auto">
            <a:xfrm>
              <a:off x="349" y="2042"/>
              <a:ext cx="978" cy="7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73" name="Line 35"/>
            <p:cNvSpPr>
              <a:spLocks noChangeShapeType="1"/>
            </p:cNvSpPr>
            <p:nvPr/>
          </p:nvSpPr>
          <p:spPr bwMode="auto">
            <a:xfrm>
              <a:off x="389" y="2050"/>
              <a:ext cx="1328" cy="7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74" name="Text Box 36"/>
            <p:cNvSpPr txBox="1">
              <a:spLocks noChangeArrowheads="1"/>
            </p:cNvSpPr>
            <p:nvPr/>
          </p:nvSpPr>
          <p:spPr bwMode="auto">
            <a:xfrm>
              <a:off x="3437" y="1005"/>
              <a:ext cx="20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0" hangingPunct="0"/>
              <a:r>
                <a:rPr lang="en-US" sz="2400" b="1">
                  <a:latin typeface="Times New Roman" pitchFamily="18" charset="0"/>
                </a:rPr>
                <a:t>Object between 2f and f</a:t>
              </a:r>
            </a:p>
          </p:txBody>
        </p:sp>
        <p:sp>
          <p:nvSpPr>
            <p:cNvPr id="75" name="Text Box 37"/>
            <p:cNvSpPr txBox="1">
              <a:spLocks noChangeArrowheads="1"/>
            </p:cNvSpPr>
            <p:nvPr/>
          </p:nvSpPr>
          <p:spPr bwMode="auto">
            <a:xfrm>
              <a:off x="3485" y="1485"/>
              <a:ext cx="1949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0" hangingPunct="0"/>
              <a:r>
                <a:rPr lang="en-US" sz="2400" b="1">
                  <a:latin typeface="Times New Roman" pitchFamily="18" charset="0"/>
                </a:rPr>
                <a:t>Image is inverted, real</a:t>
              </a:r>
            </a:p>
            <a:p>
              <a:pPr eaLnBrk="0" hangingPunct="0"/>
              <a:r>
                <a:rPr lang="en-US" sz="2400" b="1">
                  <a:latin typeface="Times New Roman" pitchFamily="18" charset="0"/>
                </a:rPr>
                <a:t>enlarged.</a:t>
              </a:r>
            </a:p>
          </p:txBody>
        </p:sp>
        <p:sp>
          <p:nvSpPr>
            <p:cNvPr id="76" name="Text Box 38"/>
            <p:cNvSpPr txBox="1">
              <a:spLocks noChangeArrowheads="1"/>
            </p:cNvSpPr>
            <p:nvPr/>
          </p:nvSpPr>
          <p:spPr bwMode="auto">
            <a:xfrm>
              <a:off x="3388" y="2721"/>
              <a:ext cx="22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0" hangingPunct="0"/>
              <a:r>
                <a:rPr lang="en-US" sz="2400" b="1">
                  <a:latin typeface="Times New Roman" pitchFamily="18" charset="0"/>
                </a:rPr>
                <a:t>Object between f and lens</a:t>
              </a:r>
            </a:p>
          </p:txBody>
        </p:sp>
        <p:sp>
          <p:nvSpPr>
            <p:cNvPr id="77" name="Text Box 39"/>
            <p:cNvSpPr txBox="1">
              <a:spLocks noChangeArrowheads="1"/>
            </p:cNvSpPr>
            <p:nvPr/>
          </p:nvSpPr>
          <p:spPr bwMode="auto">
            <a:xfrm>
              <a:off x="3398" y="3187"/>
              <a:ext cx="2169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0" hangingPunct="0"/>
              <a:r>
                <a:rPr lang="en-US" sz="2400" b="1">
                  <a:latin typeface="Times New Roman" pitchFamily="18" charset="0"/>
                </a:rPr>
                <a:t>Image is upright, virtual,</a:t>
              </a:r>
            </a:p>
            <a:p>
              <a:pPr eaLnBrk="0" hangingPunct="0"/>
              <a:r>
                <a:rPr lang="en-US" sz="2400" b="1">
                  <a:latin typeface="Times New Roman" pitchFamily="18" charset="0"/>
                </a:rPr>
                <a:t>and enlarged.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0165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Images Formed by a Concave </a:t>
            </a:r>
            <a:r>
              <a:rPr lang="en-US" dirty="0" smtClean="0">
                <a:effectLst/>
              </a:rPr>
              <a:t>Lens(</a:t>
            </a:r>
            <a:r>
              <a:rPr lang="en-US" dirty="0"/>
              <a:t>Diverging </a:t>
            </a:r>
            <a:r>
              <a:rPr lang="en-US" dirty="0" smtClean="0"/>
              <a:t>)</a:t>
            </a:r>
            <a:r>
              <a:rPr lang="en-US" dirty="0">
                <a:effectLst/>
              </a:rPr>
              <a:t/>
            </a:r>
            <a:br>
              <a:rPr lang="en-US" dirty="0">
                <a:effectLst/>
              </a:rPr>
            </a:br>
            <a:endParaRPr lang="en-US" dirty="0"/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903289" y="996951"/>
            <a:ext cx="7337426" cy="4864102"/>
            <a:chOff x="486" y="863"/>
            <a:chExt cx="4622" cy="3064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1761" y="974"/>
              <a:ext cx="468" cy="1257"/>
              <a:chOff x="2108" y="773"/>
              <a:chExt cx="468" cy="1257"/>
            </a:xfrm>
          </p:grpSpPr>
          <p:grpSp>
            <p:nvGrpSpPr>
              <p:cNvPr id="49" name="Group 48"/>
              <p:cNvGrpSpPr>
                <a:grpSpLocks/>
              </p:cNvGrpSpPr>
              <p:nvPr/>
            </p:nvGrpSpPr>
            <p:grpSpPr bwMode="auto">
              <a:xfrm>
                <a:off x="2108" y="786"/>
                <a:ext cx="130" cy="1244"/>
                <a:chOff x="2108" y="786"/>
                <a:chExt cx="130" cy="1244"/>
              </a:xfrm>
            </p:grpSpPr>
            <p:sp>
              <p:nvSpPr>
                <p:cNvPr id="55" name="Arc 43"/>
                <p:cNvSpPr>
                  <a:spLocks/>
                </p:cNvSpPr>
                <p:nvPr/>
              </p:nvSpPr>
              <p:spPr bwMode="auto">
                <a:xfrm>
                  <a:off x="2113" y="786"/>
                  <a:ext cx="125" cy="624"/>
                </a:xfrm>
                <a:custGeom>
                  <a:avLst/>
                  <a:gdLst>
                    <a:gd name="G0" fmla="+- 175 0 0"/>
                    <a:gd name="G1" fmla="+- 21600 0 0"/>
                    <a:gd name="G2" fmla="+- 21600 0 0"/>
                    <a:gd name="T0" fmla="*/ 0 w 21775"/>
                    <a:gd name="T1" fmla="*/ 1 h 21600"/>
                    <a:gd name="T2" fmla="*/ 21775 w 21775"/>
                    <a:gd name="T3" fmla="*/ 21600 h 21600"/>
                    <a:gd name="T4" fmla="*/ 175 w 21775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775" h="21600" fill="none" extrusionOk="0">
                      <a:moveTo>
                        <a:pt x="-1" y="0"/>
                      </a:moveTo>
                      <a:cubicBezTo>
                        <a:pt x="58" y="0"/>
                        <a:pt x="116" y="-1"/>
                        <a:pt x="175" y="0"/>
                      </a:cubicBezTo>
                      <a:cubicBezTo>
                        <a:pt x="12104" y="0"/>
                        <a:pt x="21775" y="9670"/>
                        <a:pt x="21775" y="21600"/>
                      </a:cubicBezTo>
                    </a:path>
                    <a:path w="21775" h="21600" stroke="0" extrusionOk="0">
                      <a:moveTo>
                        <a:pt x="-1" y="0"/>
                      </a:moveTo>
                      <a:cubicBezTo>
                        <a:pt x="58" y="0"/>
                        <a:pt x="116" y="-1"/>
                        <a:pt x="175" y="0"/>
                      </a:cubicBezTo>
                      <a:cubicBezTo>
                        <a:pt x="12104" y="0"/>
                        <a:pt x="21775" y="9670"/>
                        <a:pt x="21775" y="21600"/>
                      </a:cubicBezTo>
                      <a:lnTo>
                        <a:pt x="175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6" name="Arc 44"/>
                <p:cNvSpPr>
                  <a:spLocks/>
                </p:cNvSpPr>
                <p:nvPr/>
              </p:nvSpPr>
              <p:spPr bwMode="auto">
                <a:xfrm rot="10800000">
                  <a:off x="2108" y="1406"/>
                  <a:ext cx="124" cy="624"/>
                </a:xfrm>
                <a:custGeom>
                  <a:avLst/>
                  <a:gdLst>
                    <a:gd name="G0" fmla="+- 21600 0 0"/>
                    <a:gd name="G1" fmla="+- 21599 0 0"/>
                    <a:gd name="G2" fmla="+- 21600 0 0"/>
                    <a:gd name="T0" fmla="*/ 0 w 21600"/>
                    <a:gd name="T1" fmla="*/ 21599 h 21599"/>
                    <a:gd name="T2" fmla="*/ 21425 w 21600"/>
                    <a:gd name="T3" fmla="*/ 0 h 21599"/>
                    <a:gd name="T4" fmla="*/ 21600 w 21600"/>
                    <a:gd name="T5" fmla="*/ 21599 h 21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599" fill="none" extrusionOk="0">
                      <a:moveTo>
                        <a:pt x="0" y="21599"/>
                      </a:moveTo>
                      <a:cubicBezTo>
                        <a:pt x="0" y="9737"/>
                        <a:pt x="9564" y="95"/>
                        <a:pt x="21424" y="-1"/>
                      </a:cubicBezTo>
                    </a:path>
                    <a:path w="21600" h="21599" stroke="0" extrusionOk="0">
                      <a:moveTo>
                        <a:pt x="0" y="21599"/>
                      </a:moveTo>
                      <a:cubicBezTo>
                        <a:pt x="0" y="9737"/>
                        <a:pt x="9564" y="95"/>
                        <a:pt x="21424" y="-1"/>
                      </a:cubicBezTo>
                      <a:lnTo>
                        <a:pt x="21600" y="2159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endParaRPr lang="en-US"/>
                </a:p>
              </p:txBody>
            </p:sp>
          </p:grpSp>
          <p:grpSp>
            <p:nvGrpSpPr>
              <p:cNvPr id="50" name="Group 49"/>
              <p:cNvGrpSpPr>
                <a:grpSpLocks/>
              </p:cNvGrpSpPr>
              <p:nvPr/>
            </p:nvGrpSpPr>
            <p:grpSpPr bwMode="auto">
              <a:xfrm>
                <a:off x="2447" y="786"/>
                <a:ext cx="129" cy="1244"/>
                <a:chOff x="2447" y="786"/>
                <a:chExt cx="129" cy="1244"/>
              </a:xfrm>
            </p:grpSpPr>
            <p:sp>
              <p:nvSpPr>
                <p:cNvPr id="53" name="Arc 46"/>
                <p:cNvSpPr>
                  <a:spLocks/>
                </p:cNvSpPr>
                <p:nvPr/>
              </p:nvSpPr>
              <p:spPr bwMode="auto">
                <a:xfrm>
                  <a:off x="2447" y="786"/>
                  <a:ext cx="124" cy="624"/>
                </a:xfrm>
                <a:custGeom>
                  <a:avLst/>
                  <a:gdLst>
                    <a:gd name="G0" fmla="+- 21600 0 0"/>
                    <a:gd name="G1" fmla="+- 21599 0 0"/>
                    <a:gd name="G2" fmla="+- 21600 0 0"/>
                    <a:gd name="T0" fmla="*/ 0 w 21600"/>
                    <a:gd name="T1" fmla="*/ 21599 h 21599"/>
                    <a:gd name="T2" fmla="*/ 21425 w 21600"/>
                    <a:gd name="T3" fmla="*/ 0 h 21599"/>
                    <a:gd name="T4" fmla="*/ 21600 w 21600"/>
                    <a:gd name="T5" fmla="*/ 21599 h 21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599" fill="none" extrusionOk="0">
                      <a:moveTo>
                        <a:pt x="0" y="21599"/>
                      </a:moveTo>
                      <a:cubicBezTo>
                        <a:pt x="0" y="9737"/>
                        <a:pt x="9564" y="95"/>
                        <a:pt x="21424" y="-1"/>
                      </a:cubicBezTo>
                    </a:path>
                    <a:path w="21600" h="21599" stroke="0" extrusionOk="0">
                      <a:moveTo>
                        <a:pt x="0" y="21599"/>
                      </a:moveTo>
                      <a:cubicBezTo>
                        <a:pt x="0" y="9737"/>
                        <a:pt x="9564" y="95"/>
                        <a:pt x="21424" y="-1"/>
                      </a:cubicBezTo>
                      <a:lnTo>
                        <a:pt x="21600" y="2159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4" name="Arc 47"/>
                <p:cNvSpPr>
                  <a:spLocks/>
                </p:cNvSpPr>
                <p:nvPr/>
              </p:nvSpPr>
              <p:spPr bwMode="auto">
                <a:xfrm rot="10800000">
                  <a:off x="2452" y="1406"/>
                  <a:ext cx="124" cy="624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endParaRPr lang="en-US"/>
                </a:p>
              </p:txBody>
            </p:sp>
          </p:grpSp>
          <p:sp>
            <p:nvSpPr>
              <p:cNvPr id="51" name="Line 48"/>
              <p:cNvSpPr>
                <a:spLocks noChangeShapeType="1"/>
              </p:cNvSpPr>
              <p:nvPr/>
            </p:nvSpPr>
            <p:spPr bwMode="auto">
              <a:xfrm>
                <a:off x="2124" y="773"/>
                <a:ext cx="45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52" name="Line 49"/>
              <p:cNvSpPr>
                <a:spLocks noChangeShapeType="1"/>
              </p:cNvSpPr>
              <p:nvPr/>
            </p:nvSpPr>
            <p:spPr bwMode="auto">
              <a:xfrm>
                <a:off x="2118" y="2029"/>
                <a:ext cx="44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6" name="Line 50"/>
            <p:cNvSpPr>
              <a:spLocks noChangeShapeType="1"/>
            </p:cNvSpPr>
            <p:nvPr/>
          </p:nvSpPr>
          <p:spPr bwMode="auto">
            <a:xfrm>
              <a:off x="486" y="1550"/>
              <a:ext cx="3813" cy="6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2480" y="1534"/>
              <a:ext cx="24" cy="34"/>
            </a:xfrm>
            <a:prstGeom prst="ellipse">
              <a:avLst/>
            </a:prstGeom>
            <a:solidFill>
              <a:srgbClr val="618FFD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8" name="Oval 7"/>
            <p:cNvSpPr>
              <a:spLocks noChangeArrowheads="1"/>
            </p:cNvSpPr>
            <p:nvPr/>
          </p:nvSpPr>
          <p:spPr bwMode="auto">
            <a:xfrm>
              <a:off x="2960" y="1534"/>
              <a:ext cx="24" cy="34"/>
            </a:xfrm>
            <a:prstGeom prst="ellipse">
              <a:avLst/>
            </a:prstGeom>
            <a:solidFill>
              <a:srgbClr val="618FFD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9" name="Oval 8"/>
            <p:cNvSpPr>
              <a:spLocks noChangeArrowheads="1"/>
            </p:cNvSpPr>
            <p:nvPr/>
          </p:nvSpPr>
          <p:spPr bwMode="auto">
            <a:xfrm>
              <a:off x="1402" y="1541"/>
              <a:ext cx="25" cy="34"/>
            </a:xfrm>
            <a:prstGeom prst="ellipse">
              <a:avLst/>
            </a:prstGeom>
            <a:solidFill>
              <a:srgbClr val="618FFD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10" name="Oval 9"/>
            <p:cNvSpPr>
              <a:spLocks noChangeArrowheads="1"/>
            </p:cNvSpPr>
            <p:nvPr/>
          </p:nvSpPr>
          <p:spPr bwMode="auto">
            <a:xfrm>
              <a:off x="942" y="1532"/>
              <a:ext cx="24" cy="34"/>
            </a:xfrm>
            <a:prstGeom prst="ellipse">
              <a:avLst/>
            </a:prstGeom>
            <a:solidFill>
              <a:srgbClr val="618FFD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794" y="1667"/>
              <a:ext cx="334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2f</a:t>
              </a: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2814" y="1163"/>
              <a:ext cx="334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2f</a:t>
              </a:r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1328" y="1660"/>
              <a:ext cx="262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2403" y="1191"/>
              <a:ext cx="262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15" name="AutoShape 59"/>
            <p:cNvSpPr>
              <a:spLocks noChangeArrowheads="1"/>
            </p:cNvSpPr>
            <p:nvPr/>
          </p:nvSpPr>
          <p:spPr bwMode="auto">
            <a:xfrm rot="16200000">
              <a:off x="454" y="1320"/>
              <a:ext cx="322" cy="122"/>
            </a:xfrm>
            <a:prstGeom prst="rightArrow">
              <a:avLst>
                <a:gd name="adj1" fmla="val 50000"/>
                <a:gd name="adj2" fmla="val 131979"/>
              </a:avLst>
            </a:prstGeom>
            <a:solidFill>
              <a:srgbClr val="FF3300"/>
            </a:solidFill>
            <a:ln w="12700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16" name="Line 60"/>
            <p:cNvSpPr>
              <a:spLocks noChangeShapeType="1"/>
            </p:cNvSpPr>
            <p:nvPr/>
          </p:nvSpPr>
          <p:spPr bwMode="auto">
            <a:xfrm>
              <a:off x="617" y="1208"/>
              <a:ext cx="136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17" name="Line 61"/>
            <p:cNvSpPr>
              <a:spLocks noChangeShapeType="1"/>
            </p:cNvSpPr>
            <p:nvPr/>
          </p:nvSpPr>
          <p:spPr bwMode="auto">
            <a:xfrm flipV="1">
              <a:off x="1412" y="1208"/>
              <a:ext cx="567" cy="3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18" name="Line 62"/>
            <p:cNvSpPr>
              <a:spLocks noChangeShapeType="1"/>
            </p:cNvSpPr>
            <p:nvPr/>
          </p:nvSpPr>
          <p:spPr bwMode="auto">
            <a:xfrm flipV="1">
              <a:off x="1992" y="863"/>
              <a:ext cx="580" cy="3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19" name="Line 63"/>
            <p:cNvSpPr>
              <a:spLocks noChangeShapeType="1"/>
            </p:cNvSpPr>
            <p:nvPr/>
          </p:nvSpPr>
          <p:spPr bwMode="auto">
            <a:xfrm>
              <a:off x="624" y="1216"/>
              <a:ext cx="2274" cy="5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grpSp>
          <p:nvGrpSpPr>
            <p:cNvPr id="20" name="Group 19"/>
            <p:cNvGrpSpPr>
              <a:grpSpLocks/>
            </p:cNvGrpSpPr>
            <p:nvPr/>
          </p:nvGrpSpPr>
          <p:grpSpPr bwMode="auto">
            <a:xfrm>
              <a:off x="1813" y="2575"/>
              <a:ext cx="469" cy="1258"/>
              <a:chOff x="2160" y="2374"/>
              <a:chExt cx="469" cy="1258"/>
            </a:xfrm>
          </p:grpSpPr>
          <p:grpSp>
            <p:nvGrpSpPr>
              <p:cNvPr id="41" name="Group 40"/>
              <p:cNvGrpSpPr>
                <a:grpSpLocks/>
              </p:cNvGrpSpPr>
              <p:nvPr/>
            </p:nvGrpSpPr>
            <p:grpSpPr bwMode="auto">
              <a:xfrm>
                <a:off x="2160" y="2386"/>
                <a:ext cx="130" cy="1246"/>
                <a:chOff x="2160" y="2386"/>
                <a:chExt cx="130" cy="1246"/>
              </a:xfrm>
            </p:grpSpPr>
            <p:sp>
              <p:nvSpPr>
                <p:cNvPr id="47" name="Arc 66"/>
                <p:cNvSpPr>
                  <a:spLocks/>
                </p:cNvSpPr>
                <p:nvPr/>
              </p:nvSpPr>
              <p:spPr bwMode="auto">
                <a:xfrm>
                  <a:off x="2165" y="2386"/>
                  <a:ext cx="125" cy="625"/>
                </a:xfrm>
                <a:custGeom>
                  <a:avLst/>
                  <a:gdLst>
                    <a:gd name="G0" fmla="+- 175 0 0"/>
                    <a:gd name="G1" fmla="+- 21600 0 0"/>
                    <a:gd name="G2" fmla="+- 21600 0 0"/>
                    <a:gd name="T0" fmla="*/ 0 w 21775"/>
                    <a:gd name="T1" fmla="*/ 1 h 21600"/>
                    <a:gd name="T2" fmla="*/ 21775 w 21775"/>
                    <a:gd name="T3" fmla="*/ 21600 h 21600"/>
                    <a:gd name="T4" fmla="*/ 175 w 21775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775" h="21600" fill="none" extrusionOk="0">
                      <a:moveTo>
                        <a:pt x="-1" y="0"/>
                      </a:moveTo>
                      <a:cubicBezTo>
                        <a:pt x="58" y="0"/>
                        <a:pt x="116" y="-1"/>
                        <a:pt x="175" y="0"/>
                      </a:cubicBezTo>
                      <a:cubicBezTo>
                        <a:pt x="12104" y="0"/>
                        <a:pt x="21775" y="9670"/>
                        <a:pt x="21775" y="21600"/>
                      </a:cubicBezTo>
                    </a:path>
                    <a:path w="21775" h="21600" stroke="0" extrusionOk="0">
                      <a:moveTo>
                        <a:pt x="-1" y="0"/>
                      </a:moveTo>
                      <a:cubicBezTo>
                        <a:pt x="58" y="0"/>
                        <a:pt x="116" y="-1"/>
                        <a:pt x="175" y="0"/>
                      </a:cubicBezTo>
                      <a:cubicBezTo>
                        <a:pt x="12104" y="0"/>
                        <a:pt x="21775" y="9670"/>
                        <a:pt x="21775" y="21600"/>
                      </a:cubicBezTo>
                      <a:lnTo>
                        <a:pt x="175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48" name="Arc 67"/>
                <p:cNvSpPr>
                  <a:spLocks/>
                </p:cNvSpPr>
                <p:nvPr/>
              </p:nvSpPr>
              <p:spPr bwMode="auto">
                <a:xfrm rot="10800000">
                  <a:off x="2160" y="3009"/>
                  <a:ext cx="124" cy="623"/>
                </a:xfrm>
                <a:custGeom>
                  <a:avLst/>
                  <a:gdLst>
                    <a:gd name="G0" fmla="+- 21600 0 0"/>
                    <a:gd name="G1" fmla="+- 21599 0 0"/>
                    <a:gd name="G2" fmla="+- 21600 0 0"/>
                    <a:gd name="T0" fmla="*/ 0 w 21600"/>
                    <a:gd name="T1" fmla="*/ 21564 h 21599"/>
                    <a:gd name="T2" fmla="*/ 21426 w 21600"/>
                    <a:gd name="T3" fmla="*/ 0 h 21599"/>
                    <a:gd name="T4" fmla="*/ 21600 w 21600"/>
                    <a:gd name="T5" fmla="*/ 21599 h 21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599" fill="none" extrusionOk="0">
                      <a:moveTo>
                        <a:pt x="0" y="21564"/>
                      </a:moveTo>
                      <a:cubicBezTo>
                        <a:pt x="19" y="9716"/>
                        <a:pt x="9578" y="95"/>
                        <a:pt x="21425" y="-1"/>
                      </a:cubicBezTo>
                    </a:path>
                    <a:path w="21600" h="21599" stroke="0" extrusionOk="0">
                      <a:moveTo>
                        <a:pt x="0" y="21564"/>
                      </a:moveTo>
                      <a:cubicBezTo>
                        <a:pt x="19" y="9716"/>
                        <a:pt x="9578" y="95"/>
                        <a:pt x="21425" y="-1"/>
                      </a:cubicBezTo>
                      <a:lnTo>
                        <a:pt x="21600" y="2159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endParaRPr lang="en-US"/>
                </a:p>
              </p:txBody>
            </p:sp>
          </p:grpSp>
          <p:grpSp>
            <p:nvGrpSpPr>
              <p:cNvPr id="42" name="Group 41"/>
              <p:cNvGrpSpPr>
                <a:grpSpLocks/>
              </p:cNvGrpSpPr>
              <p:nvPr/>
            </p:nvGrpSpPr>
            <p:grpSpPr bwMode="auto">
              <a:xfrm>
                <a:off x="2499" y="2386"/>
                <a:ext cx="130" cy="1246"/>
                <a:chOff x="2499" y="2386"/>
                <a:chExt cx="130" cy="1246"/>
              </a:xfrm>
            </p:grpSpPr>
            <p:sp>
              <p:nvSpPr>
                <p:cNvPr id="45" name="Arc 69"/>
                <p:cNvSpPr>
                  <a:spLocks/>
                </p:cNvSpPr>
                <p:nvPr/>
              </p:nvSpPr>
              <p:spPr bwMode="auto">
                <a:xfrm>
                  <a:off x="2499" y="2386"/>
                  <a:ext cx="124" cy="625"/>
                </a:xfrm>
                <a:custGeom>
                  <a:avLst/>
                  <a:gdLst>
                    <a:gd name="G0" fmla="+- 21600 0 0"/>
                    <a:gd name="G1" fmla="+- 21599 0 0"/>
                    <a:gd name="G2" fmla="+- 21600 0 0"/>
                    <a:gd name="T0" fmla="*/ 0 w 21600"/>
                    <a:gd name="T1" fmla="*/ 21599 h 21599"/>
                    <a:gd name="T2" fmla="*/ 21425 w 21600"/>
                    <a:gd name="T3" fmla="*/ 0 h 21599"/>
                    <a:gd name="T4" fmla="*/ 21600 w 21600"/>
                    <a:gd name="T5" fmla="*/ 21599 h 21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599" fill="none" extrusionOk="0">
                      <a:moveTo>
                        <a:pt x="0" y="21599"/>
                      </a:moveTo>
                      <a:cubicBezTo>
                        <a:pt x="0" y="9737"/>
                        <a:pt x="9564" y="95"/>
                        <a:pt x="21424" y="-1"/>
                      </a:cubicBezTo>
                    </a:path>
                    <a:path w="21600" h="21599" stroke="0" extrusionOk="0">
                      <a:moveTo>
                        <a:pt x="0" y="21599"/>
                      </a:moveTo>
                      <a:cubicBezTo>
                        <a:pt x="0" y="9737"/>
                        <a:pt x="9564" y="95"/>
                        <a:pt x="21424" y="-1"/>
                      </a:cubicBezTo>
                      <a:lnTo>
                        <a:pt x="21600" y="2159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46" name="Arc 70"/>
                <p:cNvSpPr>
                  <a:spLocks/>
                </p:cNvSpPr>
                <p:nvPr/>
              </p:nvSpPr>
              <p:spPr bwMode="auto">
                <a:xfrm rot="10800000">
                  <a:off x="2504" y="3008"/>
                  <a:ext cx="125" cy="624"/>
                </a:xfrm>
                <a:custGeom>
                  <a:avLst/>
                  <a:gdLst>
                    <a:gd name="G0" fmla="+- 175 0 0"/>
                    <a:gd name="G1" fmla="+- 21600 0 0"/>
                    <a:gd name="G2" fmla="+- 21600 0 0"/>
                    <a:gd name="T0" fmla="*/ 0 w 21775"/>
                    <a:gd name="T1" fmla="*/ 1 h 21600"/>
                    <a:gd name="T2" fmla="*/ 21775 w 21775"/>
                    <a:gd name="T3" fmla="*/ 21565 h 21600"/>
                    <a:gd name="T4" fmla="*/ 175 w 21775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775" h="21600" fill="none" extrusionOk="0">
                      <a:moveTo>
                        <a:pt x="-1" y="0"/>
                      </a:moveTo>
                      <a:cubicBezTo>
                        <a:pt x="58" y="0"/>
                        <a:pt x="116" y="-1"/>
                        <a:pt x="175" y="0"/>
                      </a:cubicBezTo>
                      <a:cubicBezTo>
                        <a:pt x="12090" y="0"/>
                        <a:pt x="21755" y="9649"/>
                        <a:pt x="21774" y="21565"/>
                      </a:cubicBezTo>
                    </a:path>
                    <a:path w="21775" h="21600" stroke="0" extrusionOk="0">
                      <a:moveTo>
                        <a:pt x="-1" y="0"/>
                      </a:moveTo>
                      <a:cubicBezTo>
                        <a:pt x="58" y="0"/>
                        <a:pt x="116" y="-1"/>
                        <a:pt x="175" y="0"/>
                      </a:cubicBezTo>
                      <a:cubicBezTo>
                        <a:pt x="12090" y="0"/>
                        <a:pt x="21755" y="9649"/>
                        <a:pt x="21774" y="21565"/>
                      </a:cubicBezTo>
                      <a:lnTo>
                        <a:pt x="175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endParaRPr lang="en-US"/>
                </a:p>
              </p:txBody>
            </p:sp>
          </p:grpSp>
          <p:sp>
            <p:nvSpPr>
              <p:cNvPr id="43" name="Line 71"/>
              <p:cNvSpPr>
                <a:spLocks noChangeShapeType="1"/>
              </p:cNvSpPr>
              <p:nvPr/>
            </p:nvSpPr>
            <p:spPr bwMode="auto">
              <a:xfrm>
                <a:off x="2176" y="2374"/>
                <a:ext cx="45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4" name="Line 72"/>
              <p:cNvSpPr>
                <a:spLocks noChangeShapeType="1"/>
              </p:cNvSpPr>
              <p:nvPr/>
            </p:nvSpPr>
            <p:spPr bwMode="auto">
              <a:xfrm>
                <a:off x="2170" y="3629"/>
                <a:ext cx="44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21" name="Line 73"/>
            <p:cNvSpPr>
              <a:spLocks noChangeShapeType="1"/>
            </p:cNvSpPr>
            <p:nvPr/>
          </p:nvSpPr>
          <p:spPr bwMode="auto">
            <a:xfrm>
              <a:off x="538" y="3151"/>
              <a:ext cx="3813" cy="7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22" name="Oval 21"/>
            <p:cNvSpPr>
              <a:spLocks noChangeArrowheads="1"/>
            </p:cNvSpPr>
            <p:nvPr/>
          </p:nvSpPr>
          <p:spPr bwMode="auto">
            <a:xfrm>
              <a:off x="2532" y="3136"/>
              <a:ext cx="24" cy="33"/>
            </a:xfrm>
            <a:prstGeom prst="ellipse">
              <a:avLst/>
            </a:prstGeom>
            <a:solidFill>
              <a:srgbClr val="618FFD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23" name="Oval 22"/>
            <p:cNvSpPr>
              <a:spLocks noChangeArrowheads="1"/>
            </p:cNvSpPr>
            <p:nvPr/>
          </p:nvSpPr>
          <p:spPr bwMode="auto">
            <a:xfrm>
              <a:off x="3012" y="3136"/>
              <a:ext cx="24" cy="33"/>
            </a:xfrm>
            <a:prstGeom prst="ellipse">
              <a:avLst/>
            </a:prstGeom>
            <a:solidFill>
              <a:srgbClr val="618FFD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24" name="Oval 23"/>
            <p:cNvSpPr>
              <a:spLocks noChangeArrowheads="1"/>
            </p:cNvSpPr>
            <p:nvPr/>
          </p:nvSpPr>
          <p:spPr bwMode="auto">
            <a:xfrm>
              <a:off x="1454" y="3142"/>
              <a:ext cx="25" cy="33"/>
            </a:xfrm>
            <a:prstGeom prst="ellipse">
              <a:avLst/>
            </a:prstGeom>
            <a:solidFill>
              <a:srgbClr val="618FFD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994" y="3133"/>
              <a:ext cx="24" cy="34"/>
            </a:xfrm>
            <a:prstGeom prst="ellipse">
              <a:avLst/>
            </a:prstGeom>
            <a:solidFill>
              <a:srgbClr val="618FFD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846" y="3267"/>
              <a:ext cx="334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2f</a:t>
              </a:r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2866" y="2764"/>
              <a:ext cx="334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2f</a:t>
              </a:r>
            </a:p>
          </p:txBody>
        </p: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1380" y="3261"/>
              <a:ext cx="262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2455" y="2791"/>
              <a:ext cx="262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30" name="AutoShape 82"/>
            <p:cNvSpPr>
              <a:spLocks noChangeArrowheads="1"/>
            </p:cNvSpPr>
            <p:nvPr/>
          </p:nvSpPr>
          <p:spPr bwMode="auto">
            <a:xfrm rot="16200000">
              <a:off x="1509" y="2920"/>
              <a:ext cx="324" cy="122"/>
            </a:xfrm>
            <a:prstGeom prst="rightArrow">
              <a:avLst>
                <a:gd name="adj1" fmla="val 50000"/>
                <a:gd name="adj2" fmla="val 132799"/>
              </a:avLst>
            </a:prstGeom>
            <a:solidFill>
              <a:srgbClr val="FF3300"/>
            </a:solidFill>
            <a:ln w="12700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31" name="Line 83"/>
            <p:cNvSpPr>
              <a:spLocks noChangeShapeType="1"/>
            </p:cNvSpPr>
            <p:nvPr/>
          </p:nvSpPr>
          <p:spPr bwMode="auto">
            <a:xfrm>
              <a:off x="1673" y="2809"/>
              <a:ext cx="36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32" name="Line 84"/>
            <p:cNvSpPr>
              <a:spLocks noChangeShapeType="1"/>
            </p:cNvSpPr>
            <p:nvPr/>
          </p:nvSpPr>
          <p:spPr bwMode="auto">
            <a:xfrm flipV="1">
              <a:off x="604" y="2809"/>
              <a:ext cx="1427" cy="9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33" name="Line 85"/>
            <p:cNvSpPr>
              <a:spLocks noChangeShapeType="1"/>
            </p:cNvSpPr>
            <p:nvPr/>
          </p:nvSpPr>
          <p:spPr bwMode="auto">
            <a:xfrm flipV="1">
              <a:off x="2044" y="2464"/>
              <a:ext cx="580" cy="3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34" name="Line 86"/>
            <p:cNvSpPr>
              <a:spLocks noChangeShapeType="1"/>
            </p:cNvSpPr>
            <p:nvPr/>
          </p:nvSpPr>
          <p:spPr bwMode="auto">
            <a:xfrm>
              <a:off x="1673" y="2816"/>
              <a:ext cx="1251" cy="11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35" name="AutoShape 87"/>
            <p:cNvSpPr>
              <a:spLocks noChangeArrowheads="1"/>
            </p:cNvSpPr>
            <p:nvPr/>
          </p:nvSpPr>
          <p:spPr bwMode="auto">
            <a:xfrm rot="16200000">
              <a:off x="1729" y="2990"/>
              <a:ext cx="184" cy="122"/>
            </a:xfrm>
            <a:prstGeom prst="rightArrow">
              <a:avLst>
                <a:gd name="adj1" fmla="val 50000"/>
                <a:gd name="adj2" fmla="val 75417"/>
              </a:avLst>
            </a:prstGeom>
            <a:solidFill>
              <a:srgbClr val="FF3300"/>
            </a:solidFill>
            <a:ln w="12700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36" name="AutoShape 88"/>
            <p:cNvSpPr>
              <a:spLocks noChangeArrowheads="1"/>
            </p:cNvSpPr>
            <p:nvPr/>
          </p:nvSpPr>
          <p:spPr bwMode="auto">
            <a:xfrm rot="16200000">
              <a:off x="1531" y="1429"/>
              <a:ext cx="86" cy="140"/>
            </a:xfrm>
            <a:prstGeom prst="rightArrow">
              <a:avLst>
                <a:gd name="adj1" fmla="val 50000"/>
                <a:gd name="adj2" fmla="val 50005"/>
              </a:avLst>
            </a:prstGeom>
            <a:solidFill>
              <a:srgbClr val="FF3300"/>
            </a:solidFill>
            <a:ln w="12700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en-US"/>
            </a:p>
          </p:txBody>
        </p:sp>
        <p:sp>
          <p:nvSpPr>
            <p:cNvPr id="37" name="Text Box 89"/>
            <p:cNvSpPr txBox="1">
              <a:spLocks noChangeArrowheads="1"/>
            </p:cNvSpPr>
            <p:nvPr/>
          </p:nvSpPr>
          <p:spPr bwMode="auto">
            <a:xfrm>
              <a:off x="3495" y="1234"/>
              <a:ext cx="15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0" hangingPunct="0"/>
              <a:r>
                <a:rPr lang="en-US" sz="2400" b="1">
                  <a:latin typeface="Times New Roman" pitchFamily="18" charset="0"/>
                </a:rPr>
                <a:t>Object beyond 2f.</a:t>
              </a:r>
            </a:p>
          </p:txBody>
        </p:sp>
        <p:sp>
          <p:nvSpPr>
            <p:cNvPr id="38" name="Text Box 90"/>
            <p:cNvSpPr txBox="1">
              <a:spLocks noChangeArrowheads="1"/>
            </p:cNvSpPr>
            <p:nvPr/>
          </p:nvSpPr>
          <p:spPr bwMode="auto">
            <a:xfrm>
              <a:off x="3531" y="1619"/>
              <a:ext cx="1519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0" hangingPunct="0"/>
              <a:r>
                <a:rPr lang="en-US" sz="2400" b="1">
                  <a:latin typeface="Times New Roman" pitchFamily="18" charset="0"/>
                </a:rPr>
                <a:t>Image is upright,</a:t>
              </a:r>
            </a:p>
            <a:p>
              <a:pPr eaLnBrk="0" hangingPunct="0"/>
              <a:r>
                <a:rPr lang="en-US" sz="2400" b="1">
                  <a:latin typeface="Times New Roman" pitchFamily="18" charset="0"/>
                </a:rPr>
                <a:t>virtual, reduced.</a:t>
              </a:r>
            </a:p>
          </p:txBody>
        </p:sp>
        <p:sp>
          <p:nvSpPr>
            <p:cNvPr id="39" name="Text Box 91"/>
            <p:cNvSpPr txBox="1">
              <a:spLocks noChangeArrowheads="1"/>
            </p:cNvSpPr>
            <p:nvPr/>
          </p:nvSpPr>
          <p:spPr bwMode="auto">
            <a:xfrm>
              <a:off x="3541" y="2553"/>
              <a:ext cx="1390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0" hangingPunct="0"/>
              <a:r>
                <a:rPr lang="en-US" sz="2400" b="1">
                  <a:latin typeface="Times New Roman" pitchFamily="18" charset="0"/>
                </a:rPr>
                <a:t>Object between</a:t>
              </a:r>
            </a:p>
            <a:p>
              <a:pPr eaLnBrk="0" hangingPunct="0"/>
              <a:r>
                <a:rPr lang="en-US" sz="2400" b="1">
                  <a:latin typeface="Times New Roman" pitchFamily="18" charset="0"/>
                </a:rPr>
                <a:t>f and lens.</a:t>
              </a:r>
            </a:p>
          </p:txBody>
        </p:sp>
        <p:sp>
          <p:nvSpPr>
            <p:cNvPr id="40" name="Text Box 92"/>
            <p:cNvSpPr txBox="1">
              <a:spLocks noChangeArrowheads="1"/>
            </p:cNvSpPr>
            <p:nvPr/>
          </p:nvSpPr>
          <p:spPr bwMode="auto">
            <a:xfrm>
              <a:off x="3541" y="3177"/>
              <a:ext cx="1567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0" hangingPunct="0"/>
              <a:r>
                <a:rPr lang="en-US" sz="2400" b="1">
                  <a:latin typeface="Times New Roman" pitchFamily="18" charset="0"/>
                </a:rPr>
                <a:t>Image is upright, </a:t>
              </a:r>
            </a:p>
            <a:p>
              <a:pPr eaLnBrk="0" hangingPunct="0"/>
              <a:r>
                <a:rPr lang="en-US" sz="2400" b="1">
                  <a:latin typeface="Times New Roman" pitchFamily="18" charset="0"/>
                </a:rPr>
                <a:t>virtual, reduced.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852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tx1"/>
                </a:solidFill>
                <a:latin typeface="Times New Roman" pitchFamily="18" charset="0"/>
              </a:rPr>
              <a:t>The Thin Lens Equation</a:t>
            </a:r>
            <a:r>
              <a:rPr lang="en-US" sz="4400" dirty="0">
                <a:solidFill>
                  <a:srgbClr val="003399"/>
                </a:solidFill>
                <a:latin typeface="Times New Roman" pitchFamily="18" charset="0"/>
              </a:rPr>
              <a:t/>
            </a:r>
            <a:br>
              <a:rPr lang="en-US" sz="4400" dirty="0">
                <a:solidFill>
                  <a:srgbClr val="003399"/>
                </a:solidFill>
                <a:latin typeface="Times New Roman" pitchFamily="18" charset="0"/>
              </a:rPr>
            </a:br>
            <a:endParaRPr lang="en-US" dirty="0"/>
          </a:p>
        </p:txBody>
      </p:sp>
      <p:pic>
        <p:nvPicPr>
          <p:cNvPr id="4" name="Content Placeholder 3" descr="FG26_36a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9200"/>
            <a:ext cx="49530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5029200" y="1260475"/>
          <a:ext cx="2549525" cy="546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4" name="Equation" r:id="rId4" imgW="1257300" imgH="2692400" progId="Equation.DSMT4">
                  <p:embed/>
                </p:oleObj>
              </mc:Choice>
              <mc:Fallback>
                <p:oleObj name="Equation" r:id="rId4" imgW="1257300" imgH="2692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1260475"/>
                        <a:ext cx="2549525" cy="546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219200"/>
            <a:ext cx="41910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3646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864291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dirty="0"/>
              <a:t>Converging or convex lens</a:t>
            </a:r>
          </a:p>
          <a:p>
            <a:pPr marL="109728" indent="0">
              <a:buNone/>
            </a:pPr>
            <a:r>
              <a:rPr lang="en-US" dirty="0" smtClean="0"/>
              <a:t>• </a:t>
            </a:r>
            <a:r>
              <a:rPr lang="en-US" dirty="0"/>
              <a:t>focal length is positive</a:t>
            </a:r>
            <a:br>
              <a:rPr lang="en-US" dirty="0"/>
            </a:br>
            <a:r>
              <a:rPr lang="en-US" dirty="0" smtClean="0"/>
              <a:t>• </a:t>
            </a:r>
            <a:r>
              <a:rPr lang="en-US" dirty="0"/>
              <a:t>image distance is positive when on the other side </a:t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dirty="0"/>
              <a:t>of the lens (with respect to object)</a:t>
            </a:r>
            <a:br>
              <a:rPr lang="en-US" dirty="0"/>
            </a:br>
            <a:r>
              <a:rPr lang="en-US" dirty="0" smtClean="0"/>
              <a:t>• </a:t>
            </a:r>
            <a:r>
              <a:rPr lang="en-US" dirty="0"/>
              <a:t>height upright is positive, inverted is negative</a:t>
            </a:r>
          </a:p>
          <a:p>
            <a:pPr marL="109728" indent="0">
              <a:buNone/>
            </a:pPr>
            <a:r>
              <a:rPr lang="en-US" dirty="0" smtClean="0"/>
              <a:t>Diverging </a:t>
            </a:r>
            <a:r>
              <a:rPr lang="en-US" dirty="0"/>
              <a:t>or concave lens</a:t>
            </a:r>
          </a:p>
          <a:p>
            <a:pPr marL="109728" indent="0">
              <a:buNone/>
            </a:pPr>
            <a:r>
              <a:rPr lang="en-US" dirty="0" smtClean="0"/>
              <a:t>• </a:t>
            </a:r>
            <a:r>
              <a:rPr lang="en-US" dirty="0"/>
              <a:t>focal length is negative</a:t>
            </a:r>
            <a:br>
              <a:rPr lang="en-US" dirty="0"/>
            </a:br>
            <a:r>
              <a:rPr lang="en-US" dirty="0" smtClean="0"/>
              <a:t>• </a:t>
            </a:r>
            <a:r>
              <a:rPr lang="en-US" dirty="0"/>
              <a:t>image distance is always negative</a:t>
            </a:r>
            <a:br>
              <a:rPr lang="en-US" dirty="0"/>
            </a:br>
            <a:r>
              <a:rPr lang="en-US" dirty="0" smtClean="0"/>
              <a:t>  </a:t>
            </a:r>
            <a:r>
              <a:rPr lang="en-US" dirty="0"/>
              <a:t>(on the same side of the lens as the object)</a:t>
            </a:r>
            <a:br>
              <a:rPr lang="en-US" dirty="0"/>
            </a:br>
            <a:r>
              <a:rPr lang="en-US" dirty="0" smtClean="0"/>
              <a:t>• </a:t>
            </a:r>
            <a:r>
              <a:rPr lang="en-US" dirty="0"/>
              <a:t>height upright is positive, inverted is negative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tx1"/>
                </a:solidFill>
                <a:latin typeface="Times New Roman" pitchFamily="18" charset="0"/>
              </a:rPr>
              <a:t>Sign Conventions</a:t>
            </a:r>
            <a:r>
              <a:rPr lang="en-US" sz="4400" dirty="0">
                <a:solidFill>
                  <a:srgbClr val="003399"/>
                </a:solidFill>
                <a:latin typeface="Times New Roman" pitchFamily="18" charset="0"/>
              </a:rPr>
              <a:t/>
            </a:r>
            <a:br>
              <a:rPr lang="en-US" sz="4400" dirty="0">
                <a:solidFill>
                  <a:srgbClr val="003399"/>
                </a:solidFill>
                <a:latin typeface="Times New Roman" pitchFamily="18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28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ordArt 3"/>
          <p:cNvSpPr>
            <a:spLocks noGrp="1" noChangeArrowheads="1" noChangeShapeType="1" noTextEdit="1"/>
          </p:cNvSpPr>
          <p:nvPr>
            <p:ph idx="1"/>
          </p:nvPr>
        </p:nvSpPr>
        <p:spPr bwMode="auto"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numCol="1" fromWordArt="1">
            <a:prstTxWarp prst="textWave1">
              <a:avLst>
                <a:gd name="adj1" fmla="val 13005"/>
                <a:gd name="adj2" fmla="val 0"/>
              </a:avLst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/>
            <a:r>
              <a:rPr lang="en-US" sz="3600" kern="10" dirty="0">
                <a:gradFill rotWithShape="1">
                  <a:gsLst>
                    <a:gs pos="0">
                      <a:srgbClr val="9999FF"/>
                    </a:gs>
                    <a:gs pos="100000">
                      <a:srgbClr val="009999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latin typeface="Times New Roman"/>
                <a:cs typeface="Times New Roman"/>
              </a:rPr>
              <a:t>The End!.</a:t>
            </a:r>
          </a:p>
        </p:txBody>
      </p:sp>
    </p:spTree>
    <p:extLst>
      <p:ext uri="{BB962C8B-B14F-4D97-AF65-F5344CB8AC3E}">
        <p14:creationId xmlns:p14="http://schemas.microsoft.com/office/powerpoint/2010/main" val="1106693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3370</TotalTime>
  <Words>1516</Words>
  <Application>Microsoft Office PowerPoint</Application>
  <PresentationFormat>On-screen Show (4:3)</PresentationFormat>
  <Paragraphs>300</Paragraphs>
  <Slides>51</Slides>
  <Notes>2</Notes>
  <HiddenSlides>0</HiddenSlides>
  <MMClips>1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6" baseType="lpstr">
      <vt:lpstr>Arial</vt:lpstr>
      <vt:lpstr>Calibri</vt:lpstr>
      <vt:lpstr>Cambria Math</vt:lpstr>
      <vt:lpstr>Franklin Gothic Book</vt:lpstr>
      <vt:lpstr>Franklin Gothic Medium</vt:lpstr>
      <vt:lpstr>ＭＳ Ｐゴシック</vt:lpstr>
      <vt:lpstr>Symbol</vt:lpstr>
      <vt:lpstr>Times New Roman</vt:lpstr>
      <vt:lpstr>Verdana</vt:lpstr>
      <vt:lpstr>Wingdings</vt:lpstr>
      <vt:lpstr>Wingdings 2</vt:lpstr>
      <vt:lpstr>Wingdings 3</vt:lpstr>
      <vt:lpstr>Concourse</vt:lpstr>
      <vt:lpstr>Custom Design</vt:lpstr>
      <vt:lpstr>Equation</vt:lpstr>
      <vt:lpstr>CHAPTER FIVE OSCILLATIONS, WAVES AND OPTICS</vt:lpstr>
      <vt:lpstr>Periodic Motion</vt:lpstr>
      <vt:lpstr>Oscillatory Motion </vt:lpstr>
      <vt:lpstr>PowerPoint Presentation</vt:lpstr>
      <vt:lpstr>PowerPoint Presentation</vt:lpstr>
      <vt:lpstr>Types of oscillatory motion:  </vt:lpstr>
      <vt:lpstr>PowerPoint Presentation</vt:lpstr>
      <vt:lpstr>Simple Harmonic Motion</vt:lpstr>
      <vt:lpstr>Spring-mass system </vt:lpstr>
      <vt:lpstr>Simple Pendulum</vt:lpstr>
      <vt:lpstr>PowerPoint Presentation</vt:lpstr>
      <vt:lpstr>Discuss, in pairs </vt:lpstr>
      <vt:lpstr>Displacement in SHM </vt:lpstr>
      <vt:lpstr>Velocity in SHM</vt:lpstr>
      <vt:lpstr>Acceleration in a SHM  </vt:lpstr>
      <vt:lpstr>Velocity and Displacement </vt:lpstr>
      <vt:lpstr>Energy of the SHM </vt:lpstr>
      <vt:lpstr>PowerPoint Presentation</vt:lpstr>
      <vt:lpstr>Wave and Its Characteristics</vt:lpstr>
      <vt:lpstr>PowerPoint Presentation</vt:lpstr>
      <vt:lpstr>Waves</vt:lpstr>
      <vt:lpstr>PowerPoint Presentation</vt:lpstr>
      <vt:lpstr>PowerPoint Presentation</vt:lpstr>
      <vt:lpstr> Wave Speed  </vt:lpstr>
      <vt:lpstr>TYPES  OF WAVES</vt:lpstr>
      <vt:lpstr>PowerPoint Presentation</vt:lpstr>
      <vt:lpstr>PowerPoint Presentation</vt:lpstr>
      <vt:lpstr>Wave Behavior</vt:lpstr>
      <vt:lpstr>Reflection</vt:lpstr>
      <vt:lpstr>Refraction</vt:lpstr>
      <vt:lpstr>PowerPoint Presentation</vt:lpstr>
      <vt:lpstr>Diffraction</vt:lpstr>
      <vt:lpstr>Interference</vt:lpstr>
      <vt:lpstr> Two types of Interference </vt:lpstr>
      <vt:lpstr>PowerPoint Presentation</vt:lpstr>
      <vt:lpstr>Doppler Effect</vt:lpstr>
      <vt:lpstr>The Doppler Effect </vt:lpstr>
      <vt:lpstr>Applications of Doppler effect </vt:lpstr>
      <vt:lpstr>Resonance</vt:lpstr>
      <vt:lpstr>PowerPoint Presentation</vt:lpstr>
      <vt:lpstr>        Image Formation  by Thin Lenses and Mirrors</vt:lpstr>
      <vt:lpstr>optics. </vt:lpstr>
      <vt:lpstr>Images Formed by Plane Mirrors</vt:lpstr>
      <vt:lpstr>Properties of the Image Formed by a plane  Mirror  </vt:lpstr>
      <vt:lpstr>Images formed by Lenses</vt:lpstr>
      <vt:lpstr>Lenses</vt:lpstr>
      <vt:lpstr>Images Formed by a Convex (Converging )Lens </vt:lpstr>
      <vt:lpstr>Images Formed by a Concave Lens(Diverging ) </vt:lpstr>
      <vt:lpstr>The Thin Lens Equation </vt:lpstr>
      <vt:lpstr>Sign Conventions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FOUR HEAT AND THERMODYNAMICS</dc:title>
  <dc:creator>user</dc:creator>
  <cp:lastModifiedBy>Wondish</cp:lastModifiedBy>
  <cp:revision>232</cp:revision>
  <dcterms:created xsi:type="dcterms:W3CDTF">2019-12-22T17:24:12Z</dcterms:created>
  <dcterms:modified xsi:type="dcterms:W3CDTF">2020-01-10T11:46:31Z</dcterms:modified>
</cp:coreProperties>
</file>